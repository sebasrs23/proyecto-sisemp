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147471059" r:id="rId3"/>
    <p:sldId id="2147471060" r:id="rId4"/>
    <p:sldId id="296" r:id="rId5"/>
    <p:sldId id="278" r:id="rId6"/>
    <p:sldId id="2147471063" r:id="rId7"/>
    <p:sldId id="2147471062" r:id="rId8"/>
    <p:sldId id="2147471067" r:id="rId9"/>
    <p:sldId id="2147471069" r:id="rId10"/>
    <p:sldId id="2147471070" r:id="rId11"/>
    <p:sldId id="2147471065" r:id="rId12"/>
    <p:sldId id="2147471066" r:id="rId13"/>
    <p:sldId id="2147471071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ECAAC-28CE-9F2E-EE04-D14A886CA39A}" v="1" dt="2025-08-29T00:10:19.593"/>
    <p1510:client id="{7BE2D45A-5387-5451-D99C-EC7A07B49C27}" v="40" dt="2025-08-29T03:41:15.411"/>
    <p1510:client id="{7C3524C6-5044-15DB-C916-5DA9355D64DB}" v="853" dt="2025-08-29T00:26:47.334"/>
    <p1510:client id="{9F373A55-F8BB-1CFE-3A15-6F09B55D25B6}" v="682" dt="2025-08-29T02:30:44.326"/>
    <p1510:client id="{A0FC57D7-C046-A97C-8A64-2D9F214E7D28}" v="66" dt="2025-08-29T03:17:43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6:11:49.76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987.65161"/>
      <inkml:brushProperty name="anchorY" value="-260.99182"/>
      <inkml:brushProperty name="scaleFactor" value="0.5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" Type="http://schemas.openxmlformats.org/officeDocument/2006/relationships/image" Target="../media/image5.jpe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4.png"/><Relationship Id="rId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34" Type="http://schemas.openxmlformats.org/officeDocument/2006/relationships/image" Target="../media/image6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59.png"/><Relationship Id="rId2" Type="http://schemas.openxmlformats.org/officeDocument/2006/relationships/image" Target="../media/image29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13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4.png"/><Relationship Id="rId8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19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4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14.png"/><Relationship Id="rId5" Type="http://schemas.openxmlformats.org/officeDocument/2006/relationships/image" Target="../media/image64.png"/><Relationship Id="rId10" Type="http://schemas.openxmlformats.org/officeDocument/2006/relationships/image" Target="../media/image13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lipartz.com/es/sticker-png-bqvuj" TargetMode="External"/><Relationship Id="rId13" Type="http://schemas.openxmlformats.org/officeDocument/2006/relationships/image" Target="../media/image75.png"/><Relationship Id="rId3" Type="http://schemas.openxmlformats.org/officeDocument/2006/relationships/image" Target="../media/image71.png"/><Relationship Id="rId7" Type="http://schemas.microsoft.com/office/2007/relationships/hdphoto" Target="../media/hdphoto2.wdp"/><Relationship Id="rId12" Type="http://schemas.openxmlformats.org/officeDocument/2006/relationships/hyperlink" Target="https://pixabay.com/pt/rota-estrada-rua-navega%C3%A7%C3%A3o-mapa-296408/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4.png"/><Relationship Id="rId5" Type="http://schemas.openxmlformats.org/officeDocument/2006/relationships/hyperlink" Target="https://www.shutterstock.com/es/search/atencion-al-cliente-logo" TargetMode="External"/><Relationship Id="rId15" Type="http://schemas.openxmlformats.org/officeDocument/2006/relationships/image" Target="../media/image4.png"/><Relationship Id="rId10" Type="http://schemas.openxmlformats.org/officeDocument/2006/relationships/image" Target="../media/image73.png"/><Relationship Id="rId4" Type="http://schemas.microsoft.com/office/2007/relationships/hdphoto" Target="../media/hdphoto1.wdp"/><Relationship Id="rId9" Type="http://schemas.openxmlformats.org/officeDocument/2006/relationships/customXml" Target="../ink/ink1.xml"/><Relationship Id="rId1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84.png"/><Relationship Id="rId3" Type="http://schemas.openxmlformats.org/officeDocument/2006/relationships/image" Target="../media/image13.png"/><Relationship Id="rId7" Type="http://schemas.openxmlformats.org/officeDocument/2006/relationships/image" Target="../media/image78.png"/><Relationship Id="rId12" Type="http://schemas.openxmlformats.org/officeDocument/2006/relationships/image" Target="../media/image83.svg"/><Relationship Id="rId2" Type="http://schemas.openxmlformats.org/officeDocument/2006/relationships/image" Target="../media/image61.jpe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sv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4.png"/><Relationship Id="rId10" Type="http://schemas.openxmlformats.org/officeDocument/2006/relationships/image" Target="../media/image81.svg"/><Relationship Id="rId4" Type="http://schemas.openxmlformats.org/officeDocument/2006/relationships/image" Target="../media/image14.png"/><Relationship Id="rId9" Type="http://schemas.openxmlformats.org/officeDocument/2006/relationships/image" Target="../media/image80.png"/><Relationship Id="rId14" Type="http://schemas.openxmlformats.org/officeDocument/2006/relationships/image" Target="../media/image8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A1C45454-F7A3-2360-C839-F672B9E43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640" y="18592"/>
            <a:ext cx="12180723" cy="6851657"/>
          </a:xfrm>
        </p:spPr>
      </p:pic>
      <p:pic>
        <p:nvPicPr>
          <p:cNvPr id="9" name="Imagen 8" descr="Imagen que contiene Icono&#10;&#10;Descripción generada automáticamente">
            <a:extLst>
              <a:ext uri="{FF2B5EF4-FFF2-40B4-BE49-F238E27FC236}">
                <a16:creationId xmlns:a16="http://schemas.microsoft.com/office/drawing/2014/main" id="{3E28B9F0-9B83-685C-E6E7-4D1C720D6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03" y="1459258"/>
            <a:ext cx="3043430" cy="27581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6FABF9-CABC-986E-7091-C730B3550D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157" y="258759"/>
            <a:ext cx="825492" cy="5401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7DAF25-8768-2462-7297-6D332AD4C2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nterfaz de usuario gráfica, Aplicación, Patrón de fondo&#10;&#10;Descripción generada automáticamente">
            <a:extLst>
              <a:ext uri="{FF2B5EF4-FFF2-40B4-BE49-F238E27FC236}">
                <a16:creationId xmlns:a16="http://schemas.microsoft.com/office/drawing/2014/main" id="{04A22DED-0642-1773-C401-47A3165D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1"/>
            <a:ext cx="12208935" cy="6858001"/>
          </a:xfrm>
          <a:prstGeom prst="rect">
            <a:avLst/>
          </a:prstGeom>
        </p:spPr>
      </p:pic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AD64F32C-00FC-B1B5-A38B-5DEE64D400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918" y="-11278"/>
            <a:ext cx="5039475" cy="6799021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05A30DE9-0B5C-6430-A1D5-4B2D20C5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453" y="2159263"/>
            <a:ext cx="3034305" cy="492164"/>
          </a:xfrm>
        </p:spPr>
        <p:txBody>
          <a:bodyPr vert="horz" lIns="121807" tIns="60904" rIns="121807" bIns="60904" rtlCol="0" anchor="t">
            <a:noAutofit/>
          </a:bodyPr>
          <a:lstStyle/>
          <a:p>
            <a:pPr marL="0" indent="0">
              <a:buNone/>
            </a:pPr>
            <a:r>
              <a:rPr lang="es-CO" sz="3463" b="1">
                <a:solidFill>
                  <a:srgbClr val="21804B"/>
                </a:solidFill>
                <a:latin typeface="Calibri"/>
                <a:ea typeface="Calibri"/>
                <a:cs typeface="Calibri"/>
              </a:rPr>
              <a:t>+ de 19 años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3C26336-0D5B-6A9C-6846-062D89AE7808}"/>
              </a:ext>
            </a:extLst>
          </p:cNvPr>
          <p:cNvSpPr txBox="1">
            <a:spLocks/>
          </p:cNvSpPr>
          <p:nvPr/>
        </p:nvSpPr>
        <p:spPr>
          <a:xfrm>
            <a:off x="5393453" y="3585478"/>
            <a:ext cx="5470449" cy="492166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554">
              <a:spcBef>
                <a:spcPts val="999"/>
              </a:spcBef>
              <a:buNone/>
              <a:defRPr/>
            </a:pPr>
            <a:r>
              <a:rPr lang="es-CO" sz="3463" b="1">
                <a:solidFill>
                  <a:srgbClr val="21804B"/>
                </a:solidFill>
                <a:latin typeface="Calibri"/>
                <a:cs typeface="Calibri"/>
              </a:rPr>
              <a:t>+ de 1300 colaboradores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DFA2A01-8389-F2FD-C1E2-66D051E18A44}"/>
              </a:ext>
            </a:extLst>
          </p:cNvPr>
          <p:cNvSpPr txBox="1">
            <a:spLocks/>
          </p:cNvSpPr>
          <p:nvPr/>
        </p:nvSpPr>
        <p:spPr>
          <a:xfrm>
            <a:off x="5393453" y="2640366"/>
            <a:ext cx="5818471" cy="407027"/>
          </a:xfrm>
          <a:prstGeom prst="rect">
            <a:avLst/>
          </a:prstGeom>
        </p:spPr>
        <p:txBody>
          <a:bodyPr vert="horz" lIns="91355" tIns="45678" rIns="91355" bIns="4567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072">
              <a:spcBef>
                <a:spcPts val="1332"/>
              </a:spcBef>
              <a:buNone/>
              <a:defRPr/>
            </a:pPr>
            <a:r>
              <a:rPr lang="es-CO" sz="213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experiencia en el sector de la tecnología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80D3E0D-E3DD-61DE-6B31-A21D0C33007E}"/>
              </a:ext>
            </a:extLst>
          </p:cNvPr>
          <p:cNvSpPr txBox="1">
            <a:spLocks/>
          </p:cNvSpPr>
          <p:nvPr/>
        </p:nvSpPr>
        <p:spPr>
          <a:xfrm>
            <a:off x="565825" y="1982164"/>
            <a:ext cx="3015080" cy="783044"/>
          </a:xfrm>
          <a:prstGeom prst="rect">
            <a:avLst/>
          </a:prstGeom>
        </p:spPr>
        <p:txBody>
          <a:bodyPr vert="horz" lIns="91355" tIns="45678" rIns="91355" bIns="4567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072">
              <a:spcBef>
                <a:spcPts val="1332"/>
              </a:spcBef>
              <a:buNone/>
              <a:defRPr/>
            </a:pPr>
            <a:r>
              <a:rPr lang="es-CO" sz="213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Presencia global y oficinas en 7 países</a:t>
            </a:r>
          </a:p>
        </p:txBody>
      </p:sp>
      <p:pic>
        <p:nvPicPr>
          <p:cNvPr id="16" name="Imagen 15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78DE63B-A163-8B4F-A18E-C1B2A9D85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90" y="3919823"/>
            <a:ext cx="680522" cy="453681"/>
          </a:xfrm>
          <a:prstGeom prst="rect">
            <a:avLst/>
          </a:prstGeom>
        </p:spPr>
      </p:pic>
      <p:pic>
        <p:nvPicPr>
          <p:cNvPr id="18" name="Imagen 17" descr="Imagen que contiene dibujo, alimentos&#10;&#10;Descripción generada automáticamente">
            <a:extLst>
              <a:ext uri="{FF2B5EF4-FFF2-40B4-BE49-F238E27FC236}">
                <a16:creationId xmlns:a16="http://schemas.microsoft.com/office/drawing/2014/main" id="{098B91CD-DCC9-8E43-F0F5-43A337948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534" y="3920004"/>
            <a:ext cx="682263" cy="454842"/>
          </a:xfrm>
          <a:prstGeom prst="rect">
            <a:avLst/>
          </a:prstGeom>
        </p:spPr>
      </p:pic>
      <p:pic>
        <p:nvPicPr>
          <p:cNvPr id="20" name="Imagen 19" descr="Texto&#10;&#10;Descripción generada automáticamente">
            <a:extLst>
              <a:ext uri="{FF2B5EF4-FFF2-40B4-BE49-F238E27FC236}">
                <a16:creationId xmlns:a16="http://schemas.microsoft.com/office/drawing/2014/main" id="{1569D6F7-133A-C32D-F9D0-BDD5BC8BD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76" y="3920004"/>
            <a:ext cx="682263" cy="454842"/>
          </a:xfrm>
          <a:prstGeom prst="rect">
            <a:avLst/>
          </a:prstGeom>
        </p:spPr>
      </p:pic>
      <p:pic>
        <p:nvPicPr>
          <p:cNvPr id="22" name="Imagen 21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7AD99DFA-1386-F33E-8088-0F81FC2EB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39" y="3337706"/>
            <a:ext cx="682263" cy="454842"/>
          </a:xfrm>
          <a:prstGeom prst="rect">
            <a:avLst/>
          </a:prstGeom>
        </p:spPr>
      </p:pic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8479003D-56D3-5F07-79C8-A3163F4B1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058" y="3335344"/>
            <a:ext cx="682263" cy="43968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BA0B9C1A-CA19-5D96-4917-09C35E48D4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76" y="3335419"/>
            <a:ext cx="682263" cy="44017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29F0C18-4490-9975-9276-709B68925794}"/>
              </a:ext>
            </a:extLst>
          </p:cNvPr>
          <p:cNvSpPr txBox="1">
            <a:spLocks/>
          </p:cNvSpPr>
          <p:nvPr/>
        </p:nvSpPr>
        <p:spPr>
          <a:xfrm>
            <a:off x="5393454" y="798557"/>
            <a:ext cx="3837954" cy="970584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072">
              <a:lnSpc>
                <a:spcPts val="3597"/>
              </a:lnSpc>
              <a:spcBef>
                <a:spcPts val="1332"/>
              </a:spcBef>
              <a:buNone/>
              <a:defRPr/>
            </a:pPr>
            <a:r>
              <a:rPr lang="es-CO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Caracterización</a:t>
            </a:r>
          </a:p>
        </p:txBody>
      </p:sp>
      <p:pic>
        <p:nvPicPr>
          <p:cNvPr id="3" name="Imagen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7BF8F31-12E4-56CC-D6ED-0E47B52BD4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6298" y="6327137"/>
            <a:ext cx="1459149" cy="291830"/>
          </a:xfrm>
          <a:prstGeom prst="rect">
            <a:avLst/>
          </a:prstGeom>
        </p:spPr>
      </p:pic>
      <p:pic>
        <p:nvPicPr>
          <p:cNvPr id="4" name="Imagen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15B4D68-A8B9-16CF-8871-DE46D90CF3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1064" y="189691"/>
            <a:ext cx="1172394" cy="30198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48D008A-81EE-8B19-1C9E-AAD5F45FEF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358" y="3918218"/>
            <a:ext cx="680522" cy="443371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F827BAD-88EC-EEB2-4F02-C740C9F33BAD}"/>
              </a:ext>
            </a:extLst>
          </p:cNvPr>
          <p:cNvSpPr txBox="1">
            <a:spLocks/>
          </p:cNvSpPr>
          <p:nvPr/>
        </p:nvSpPr>
        <p:spPr>
          <a:xfrm>
            <a:off x="5263160" y="4782474"/>
            <a:ext cx="5380049" cy="345399"/>
          </a:xfrm>
          <a:prstGeom prst="rect">
            <a:avLst/>
          </a:prstGeom>
        </p:spPr>
        <p:txBody>
          <a:bodyPr vert="horz" lIns="121807" tIns="60904" rIns="121807" bIns="60904" rtlCol="0" anchor="t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554">
              <a:spcBef>
                <a:spcPts val="999"/>
              </a:spcBef>
              <a:buNone/>
              <a:defRPr/>
            </a:pPr>
            <a:r>
              <a:rPr lang="es-CO" sz="1950" spc="400">
                <a:solidFill>
                  <a:srgbClr val="669933"/>
                </a:solidFill>
                <a:latin typeface="Calibri"/>
                <a:ea typeface="Calibri"/>
                <a:cs typeface="Calibri"/>
              </a:rPr>
              <a:t>RESPALDO DE: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7DA5AAA-8AD8-C784-5E83-EDA8D928B34E}"/>
              </a:ext>
            </a:extLst>
          </p:cNvPr>
          <p:cNvGrpSpPr/>
          <p:nvPr/>
        </p:nvGrpSpPr>
        <p:grpSpPr>
          <a:xfrm>
            <a:off x="5319869" y="5153636"/>
            <a:ext cx="6215779" cy="982281"/>
            <a:chOff x="377306" y="3635172"/>
            <a:chExt cx="4666151" cy="737393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A323BD6B-9835-8CA3-0379-F8579C245F92}"/>
                </a:ext>
              </a:extLst>
            </p:cNvPr>
            <p:cNvGrpSpPr/>
            <p:nvPr/>
          </p:nvGrpSpPr>
          <p:grpSpPr>
            <a:xfrm>
              <a:off x="377306" y="3726931"/>
              <a:ext cx="1439299" cy="553875"/>
              <a:chOff x="377306" y="3726931"/>
              <a:chExt cx="1439299" cy="553875"/>
            </a:xfrm>
          </p:grpSpPr>
          <p:sp>
            <p:nvSpPr>
              <p:cNvPr id="32" name="Marcador de contenido 2">
                <a:extLst>
                  <a:ext uri="{FF2B5EF4-FFF2-40B4-BE49-F238E27FC236}">
                    <a16:creationId xmlns:a16="http://schemas.microsoft.com/office/drawing/2014/main" id="{BCAB9513-B892-3FA9-7E66-D341E4A570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4454" y="3803375"/>
                <a:ext cx="982151" cy="400987"/>
              </a:xfrm>
              <a:prstGeom prst="rect">
                <a:avLst/>
              </a:prstGeom>
            </p:spPr>
            <p:txBody>
              <a:bodyPr vert="horz" lIns="121807" tIns="60904" rIns="121807" bIns="60904" rtlCol="0" anchor="t">
                <a:normAutofit lnSpcReduction="1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913554">
                  <a:spcBef>
                    <a:spcPts val="999"/>
                  </a:spcBef>
                  <a:buNone/>
                  <a:defRPr/>
                </a:pPr>
                <a:r>
                  <a:rPr lang="es-CO" sz="1599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/>
                    <a:ea typeface="Calibri"/>
                    <a:cs typeface="Calibri"/>
                  </a:rPr>
                  <a:t>ISO 27001:2022</a:t>
                </a:r>
              </a:p>
            </p:txBody>
          </p:sp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E27D0F26-B4C2-B18B-4F55-722D8F8117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7306" y="3726931"/>
                <a:ext cx="486054" cy="553875"/>
              </a:xfrm>
              <a:prstGeom prst="rect">
                <a:avLst/>
              </a:prstGeom>
            </p:spPr>
          </p:pic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FDDA23AF-318C-4712-06B0-A7066FAC13F6}"/>
                </a:ext>
              </a:extLst>
            </p:cNvPr>
            <p:cNvGrpSpPr/>
            <p:nvPr/>
          </p:nvGrpSpPr>
          <p:grpSpPr>
            <a:xfrm>
              <a:off x="1980790" y="3715627"/>
              <a:ext cx="1378619" cy="576482"/>
              <a:chOff x="1980790" y="3715627"/>
              <a:chExt cx="1378619" cy="576482"/>
            </a:xfrm>
          </p:grpSpPr>
          <p:sp>
            <p:nvSpPr>
              <p:cNvPr id="30" name="Marcador de contenido 2">
                <a:extLst>
                  <a:ext uri="{FF2B5EF4-FFF2-40B4-BE49-F238E27FC236}">
                    <a16:creationId xmlns:a16="http://schemas.microsoft.com/office/drawing/2014/main" id="{D08803F6-70EB-554F-FE58-F991725D64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0825" y="3803375"/>
                <a:ext cx="858584" cy="400987"/>
              </a:xfrm>
              <a:prstGeom prst="rect">
                <a:avLst/>
              </a:prstGeom>
            </p:spPr>
            <p:txBody>
              <a:bodyPr vert="horz" lIns="121807" tIns="60904" rIns="121807" bIns="60904" rtlCol="0" anchor="t">
                <a:normAutofit lnSpcReduction="1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913554">
                  <a:spcBef>
                    <a:spcPts val="999"/>
                  </a:spcBef>
                  <a:buNone/>
                  <a:defRPr/>
                </a:pPr>
                <a:r>
                  <a:rPr lang="es-CO" sz="1599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/>
                    <a:ea typeface="Calibri"/>
                    <a:cs typeface="Calibri"/>
                  </a:rPr>
                  <a:t>ISO 9001:2015</a:t>
                </a:r>
                <a:endParaRPr lang="es-CO" sz="1599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994A91D1-F08F-1C07-43A1-2FEB5493F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0790" y="3715627"/>
                <a:ext cx="519964" cy="576482"/>
              </a:xfrm>
              <a:prstGeom prst="rect">
                <a:avLst/>
              </a:prstGeom>
            </p:spPr>
          </p:pic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76F6A93F-65F5-4F5F-B435-92834C8DECA0}"/>
                </a:ext>
              </a:extLst>
            </p:cNvPr>
            <p:cNvGrpSpPr/>
            <p:nvPr/>
          </p:nvGrpSpPr>
          <p:grpSpPr>
            <a:xfrm>
              <a:off x="3610673" y="3715627"/>
              <a:ext cx="1432784" cy="576482"/>
              <a:chOff x="3610673" y="3715627"/>
              <a:chExt cx="1432784" cy="576482"/>
            </a:xfrm>
          </p:grpSpPr>
          <p:sp>
            <p:nvSpPr>
              <p:cNvPr id="28" name="Marcador de contenido 2">
                <a:extLst>
                  <a:ext uri="{FF2B5EF4-FFF2-40B4-BE49-F238E27FC236}">
                    <a16:creationId xmlns:a16="http://schemas.microsoft.com/office/drawing/2014/main" id="{8B83FD70-4F6B-F16F-D4A3-8B9AFB5182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4068" y="3803375"/>
                <a:ext cx="909389" cy="400987"/>
              </a:xfrm>
              <a:prstGeom prst="rect">
                <a:avLst/>
              </a:prstGeom>
            </p:spPr>
            <p:txBody>
              <a:bodyPr vert="horz" lIns="121807" tIns="60904" rIns="121807" bIns="60904" rtlCol="0" anchor="t">
                <a:normAutofit fontScale="925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913554">
                  <a:spcBef>
                    <a:spcPts val="999"/>
                  </a:spcBef>
                  <a:buNone/>
                  <a:defRPr/>
                </a:pPr>
                <a:r>
                  <a:rPr lang="es-CO" sz="1599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/>
                    <a:ea typeface="Calibri"/>
                    <a:cs typeface="Calibri"/>
                  </a:rPr>
                  <a:t>ISO/IEC 27032:2023</a:t>
                </a:r>
                <a:endParaRPr lang="es-CO" sz="1599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55DEF4C8-A4DB-7ADF-BC1C-747B3D7285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0673" y="3715627"/>
                <a:ext cx="553875" cy="576482"/>
              </a:xfrm>
              <a:prstGeom prst="rect">
                <a:avLst/>
              </a:prstGeom>
            </p:spPr>
          </p:pic>
        </p:grp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7633003B-9ADE-9E74-9727-FE4196AA8C77}"/>
                </a:ext>
              </a:extLst>
            </p:cNvPr>
            <p:cNvCxnSpPr>
              <a:cxnSpLocks/>
            </p:cNvCxnSpPr>
            <p:nvPr/>
          </p:nvCxnSpPr>
          <p:spPr>
            <a:xfrm>
              <a:off x="1826765" y="3635172"/>
              <a:ext cx="0" cy="737393"/>
            </a:xfrm>
            <a:prstGeom prst="line">
              <a:avLst/>
            </a:prstGeom>
            <a:ln w="19050">
              <a:gradFill>
                <a:gsLst>
                  <a:gs pos="0">
                    <a:srgbClr val="97E6AE"/>
                  </a:gs>
                  <a:gs pos="100000">
                    <a:srgbClr val="00838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D6CCADF5-5259-440C-0E97-21F5580880A2}"/>
                </a:ext>
              </a:extLst>
            </p:cNvPr>
            <p:cNvCxnSpPr>
              <a:cxnSpLocks/>
            </p:cNvCxnSpPr>
            <p:nvPr/>
          </p:nvCxnSpPr>
          <p:spPr>
            <a:xfrm>
              <a:off x="3469800" y="3635172"/>
              <a:ext cx="0" cy="737393"/>
            </a:xfrm>
            <a:prstGeom prst="line">
              <a:avLst/>
            </a:prstGeom>
            <a:ln w="19050">
              <a:gradFill>
                <a:gsLst>
                  <a:gs pos="0">
                    <a:srgbClr val="97E6AE"/>
                  </a:gs>
                  <a:gs pos="100000">
                    <a:srgbClr val="00838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DE615E2F-3E60-CCCD-3386-EAAEAFBFF96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C3042EF-C524-75D9-2B6F-DF912915C44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7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">
            <a:extLst>
              <a:ext uri="{FF2B5EF4-FFF2-40B4-BE49-F238E27FC236}">
                <a16:creationId xmlns:a16="http://schemas.microsoft.com/office/drawing/2014/main" id="{86676FE5-28FD-E1D9-4121-041772D54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3172"/>
            <a:ext cx="12186363" cy="68548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693BF40-6C5C-B02C-3468-B8288EE03F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-2593346" y="-960593"/>
            <a:ext cx="6556028" cy="68548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0E8971-1771-A6AD-23FA-9F44B4906F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1574" y="3941070"/>
            <a:ext cx="2420961" cy="175163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40649EE-CEB3-12A1-93A8-80CA537B14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13841" y="3941070"/>
            <a:ext cx="2420961" cy="175163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893A422-1E41-805C-C88D-3ED3EB9992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67708" y="3941070"/>
            <a:ext cx="2420961" cy="175163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0BA18CD-44D2-86BB-DAC6-0C1B26BDA0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93998" y="2233427"/>
            <a:ext cx="2440805" cy="175163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4909B96-B02B-25A4-AC62-1A9CDE44703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59976" y="3941070"/>
            <a:ext cx="2420961" cy="17516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5265CDC-D65C-2ECD-232E-03ECE46A90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47864" y="2233427"/>
            <a:ext cx="2440805" cy="1751637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7CD45D1-D17A-8AAD-3A27-185719FF2CCC}"/>
              </a:ext>
            </a:extLst>
          </p:cNvPr>
          <p:cNvSpPr txBox="1">
            <a:spLocks/>
          </p:cNvSpPr>
          <p:nvPr/>
        </p:nvSpPr>
        <p:spPr>
          <a:xfrm>
            <a:off x="8084825" y="477082"/>
            <a:ext cx="3592889" cy="505269"/>
          </a:xfrm>
          <a:prstGeom prst="rect">
            <a:avLst/>
          </a:prstGeom>
        </p:spPr>
        <p:txBody>
          <a:bodyPr vert="horz" lIns="91355" tIns="45678" rIns="91355" bIns="4567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8072">
              <a:lnSpc>
                <a:spcPts val="3597"/>
              </a:lnSpc>
              <a:spcBef>
                <a:spcPts val="1332"/>
              </a:spcBef>
              <a:buNone/>
              <a:defRPr/>
            </a:pPr>
            <a:r>
              <a:rPr lang="es-CO" sz="2931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Cobertura global</a:t>
            </a:r>
          </a:p>
        </p:txBody>
      </p:sp>
      <p:pic>
        <p:nvPicPr>
          <p:cNvPr id="7" name="Imagen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43BA1F6-AF2C-2E07-96D3-DCA3E2F22B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6298" y="6327137"/>
            <a:ext cx="1459149" cy="291830"/>
          </a:xfrm>
          <a:prstGeom prst="rect">
            <a:avLst/>
          </a:prstGeom>
        </p:spPr>
      </p:pic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88F2402-F92E-D654-22E7-7410D76A61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83" y="6369725"/>
            <a:ext cx="1172394" cy="3019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64BA61-E7F2-71FE-E90A-EC5373AA760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40133" y="2233429"/>
            <a:ext cx="2440805" cy="17516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B68C307-B535-02D2-8EC3-4020E85FD87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013E6E5-43F7-FABB-C7BF-36D62DAD8F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0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n 92">
            <a:extLst>
              <a:ext uri="{FF2B5EF4-FFF2-40B4-BE49-F238E27FC236}">
                <a16:creationId xmlns:a16="http://schemas.microsoft.com/office/drawing/2014/main" id="{EE125297-D613-152B-2135-25711ADA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" y="14514"/>
            <a:ext cx="12171332" cy="686327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71C721A-EE86-662B-415F-1E242C4B9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113" y="1681718"/>
            <a:ext cx="930472" cy="3214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5100E1-C99F-08A7-2FE7-5B79E84B6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557" y="1597130"/>
            <a:ext cx="541365" cy="4906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116A2C-3727-7BC4-0858-CB839F9ED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220" y="1580212"/>
            <a:ext cx="947389" cy="52444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1FB837-B4D6-AFCC-2C19-A557FCB1F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4831" y="2329991"/>
            <a:ext cx="609036" cy="52444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BB45429-2AF7-CC81-57B1-FBE666D51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592" y="2473791"/>
            <a:ext cx="761295" cy="23684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7ADC1D6-59F5-18F4-0431-C1F709E5D9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043" y="2262320"/>
            <a:ext cx="1285743" cy="65978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4ECA92F-72D4-73C7-DE30-6D1015C478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4148" y="3150542"/>
            <a:ext cx="1150401" cy="37218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EDA1675-0629-5161-3EDD-5E6E09D670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2051" y="3243589"/>
            <a:ext cx="744377" cy="18609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86693B6-0F9B-87ED-5EB9-427B004575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3808" y="3192836"/>
            <a:ext cx="778213" cy="2876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50717D8-519B-B65E-A79E-D4EA0E6C72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8736" y="3967512"/>
            <a:ext cx="981225" cy="21993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7889FA4-E146-13F2-B315-6DB602157F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6709" y="3942135"/>
            <a:ext cx="1015060" cy="27068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87B32C0-8004-5204-ACAA-24F5A70714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4561" y="3857547"/>
            <a:ext cx="676707" cy="43985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7D02A86-2835-D98E-9814-D7A7C53943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1854" y="4577970"/>
            <a:ext cx="1234990" cy="490612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DDE2EF7-0D51-854F-BA3A-C511BD20992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0545" y="4654099"/>
            <a:ext cx="947389" cy="33835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DB28A5BB-D295-00DE-1DD4-9A0762E0148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51479" y="4704852"/>
            <a:ext cx="642871" cy="23684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7BF36D6-93CB-5330-852E-39F60760F5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71066" y="5462360"/>
            <a:ext cx="1116566" cy="25376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35E5F27-EB0F-C0B8-BDED-96F98840CB0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0580" y="5453901"/>
            <a:ext cx="1167319" cy="27068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A68A97D-7A4B-6C30-027F-1070396C54B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9220" y="5436983"/>
            <a:ext cx="947389" cy="304518"/>
          </a:xfrm>
          <a:prstGeom prst="rect">
            <a:avLst/>
          </a:prstGeom>
        </p:spPr>
      </p:pic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3F84E44C-C2F5-B4AD-EA19-6D95E4D2F0D2}"/>
              </a:ext>
            </a:extLst>
          </p:cNvPr>
          <p:cNvCxnSpPr>
            <a:cxnSpLocks/>
          </p:cNvCxnSpPr>
          <p:nvPr/>
        </p:nvCxnSpPr>
        <p:spPr>
          <a:xfrm>
            <a:off x="7447138" y="1443263"/>
            <a:ext cx="0" cy="5517150"/>
          </a:xfrm>
          <a:prstGeom prst="line">
            <a:avLst/>
          </a:prstGeom>
          <a:ln>
            <a:solidFill>
              <a:srgbClr val="66993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EC3FEA0-1A9B-3AB2-B809-B9C606E4E18E}"/>
              </a:ext>
            </a:extLst>
          </p:cNvPr>
          <p:cNvSpPr txBox="1"/>
          <p:nvPr/>
        </p:nvSpPr>
        <p:spPr>
          <a:xfrm>
            <a:off x="7856718" y="1567675"/>
            <a:ext cx="1924349" cy="93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+ de 200.000</a:t>
            </a:r>
          </a:p>
          <a:p>
            <a:r>
              <a:rPr lang="es-CO" sz="1199"/>
              <a:t>Horas ahorradas gracias a la automatización de procesos repetitivos.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7E27026-FA0A-D842-FE33-E9B02ED74710}"/>
              </a:ext>
            </a:extLst>
          </p:cNvPr>
          <p:cNvSpPr txBox="1"/>
          <p:nvPr/>
        </p:nvSpPr>
        <p:spPr>
          <a:xfrm>
            <a:off x="9959272" y="1567674"/>
            <a:ext cx="1924349" cy="748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99%</a:t>
            </a:r>
          </a:p>
          <a:p>
            <a:r>
              <a:rPr lang="es-CO" sz="1199"/>
              <a:t>Minimización en errores humanos.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CED6DB3-91E5-6EAF-4B02-7D2D6A8B267A}"/>
              </a:ext>
            </a:extLst>
          </p:cNvPr>
          <p:cNvSpPr txBox="1"/>
          <p:nvPr/>
        </p:nvSpPr>
        <p:spPr>
          <a:xfrm>
            <a:off x="7856718" y="2621971"/>
            <a:ext cx="1924349" cy="748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70%</a:t>
            </a:r>
          </a:p>
          <a:p>
            <a:r>
              <a:rPr lang="es-CO" sz="1199"/>
              <a:t>Reducción de costos operacionales.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B4960A1-3459-AF76-59C8-8AA144F11F76}"/>
              </a:ext>
            </a:extLst>
          </p:cNvPr>
          <p:cNvSpPr txBox="1"/>
          <p:nvPr/>
        </p:nvSpPr>
        <p:spPr>
          <a:xfrm>
            <a:off x="9959272" y="2621972"/>
            <a:ext cx="1924349" cy="748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+ de 1000 </a:t>
            </a:r>
            <a:r>
              <a:rPr lang="es-CO" sz="1865" b="1" i="1" err="1">
                <a:solidFill>
                  <a:srgbClr val="669933"/>
                </a:solidFill>
              </a:rPr>
              <a:t>bots</a:t>
            </a:r>
            <a:endParaRPr lang="es-CO" sz="1865" b="1" i="1">
              <a:solidFill>
                <a:srgbClr val="669933"/>
              </a:solidFill>
            </a:endParaRPr>
          </a:p>
          <a:p>
            <a:r>
              <a:rPr lang="es-CO" sz="1199"/>
              <a:t>Automatizaciones activas optimizando procesos.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EBD0460-F350-DC20-ADEE-4A31A73BD509}"/>
              </a:ext>
            </a:extLst>
          </p:cNvPr>
          <p:cNvSpPr txBox="1"/>
          <p:nvPr/>
        </p:nvSpPr>
        <p:spPr>
          <a:xfrm>
            <a:off x="7856718" y="3522730"/>
            <a:ext cx="1924349" cy="563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24/7</a:t>
            </a:r>
          </a:p>
          <a:p>
            <a:r>
              <a:rPr lang="es-CO" sz="1199"/>
              <a:t>Automatización constante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100FCB5-90B5-8DED-387A-74FDF999AAC2}"/>
              </a:ext>
            </a:extLst>
          </p:cNvPr>
          <p:cNvSpPr txBox="1"/>
          <p:nvPr/>
        </p:nvSpPr>
        <p:spPr>
          <a:xfrm>
            <a:off x="9959272" y="3522731"/>
            <a:ext cx="1924349" cy="748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+ de 5000</a:t>
            </a:r>
          </a:p>
          <a:p>
            <a:r>
              <a:rPr lang="es-CO" sz="1199"/>
              <a:t>Amenazas detectadas y neutralizadas.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F26FED3-D34B-B632-53BF-E77AEC54CF06}"/>
              </a:ext>
            </a:extLst>
          </p:cNvPr>
          <p:cNvSpPr txBox="1"/>
          <p:nvPr/>
        </p:nvSpPr>
        <p:spPr>
          <a:xfrm>
            <a:off x="7856718" y="4423490"/>
            <a:ext cx="1924349" cy="93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+ de 80%</a:t>
            </a:r>
          </a:p>
          <a:p>
            <a:r>
              <a:rPr lang="es-CO" sz="1199"/>
              <a:t>Reducción en tiempos de desarrollo - aceleración en tiempos de entrega.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D412480-8804-F36E-E711-2D087AF635CF}"/>
              </a:ext>
            </a:extLst>
          </p:cNvPr>
          <p:cNvSpPr txBox="1"/>
          <p:nvPr/>
        </p:nvSpPr>
        <p:spPr>
          <a:xfrm>
            <a:off x="9959272" y="4423490"/>
            <a:ext cx="1924349" cy="93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65" b="1" i="1">
                <a:solidFill>
                  <a:srgbClr val="669933"/>
                </a:solidFill>
              </a:rPr>
              <a:t>80%</a:t>
            </a:r>
          </a:p>
          <a:p>
            <a:r>
              <a:rPr lang="es-CO" sz="1199"/>
              <a:t>De reducción en consultas repetitivas con asistentes virtuales.</a:t>
            </a:r>
          </a:p>
        </p:txBody>
      </p: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09E54C86-DDE8-56D1-796E-B74A1DB8C960}"/>
              </a:ext>
            </a:extLst>
          </p:cNvPr>
          <p:cNvSpPr txBox="1">
            <a:spLocks/>
          </p:cNvSpPr>
          <p:nvPr/>
        </p:nvSpPr>
        <p:spPr>
          <a:xfrm>
            <a:off x="8033724" y="374086"/>
            <a:ext cx="4006478" cy="505269"/>
          </a:xfrm>
          <a:prstGeom prst="rect">
            <a:avLst/>
          </a:prstGeom>
        </p:spPr>
        <p:txBody>
          <a:bodyPr vert="horz" lIns="91355" tIns="45678" rIns="91355" bIns="4567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597"/>
              </a:lnSpc>
              <a:buNone/>
            </a:pPr>
            <a:r>
              <a:rPr lang="es-CO" sz="2931" b="1" i="1" spc="799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EXPERIENCIAS</a:t>
            </a:r>
          </a:p>
        </p:txBody>
      </p:sp>
      <p:grpSp>
        <p:nvGrpSpPr>
          <p:cNvPr id="94" name="Grupo 93">
            <a:extLst>
              <a:ext uri="{FF2B5EF4-FFF2-40B4-BE49-F238E27FC236}">
                <a16:creationId xmlns:a16="http://schemas.microsoft.com/office/drawing/2014/main" id="{369DE480-E652-8A81-DB99-80BDAD0D95CF}"/>
              </a:ext>
            </a:extLst>
          </p:cNvPr>
          <p:cNvGrpSpPr/>
          <p:nvPr/>
        </p:nvGrpSpPr>
        <p:grpSpPr>
          <a:xfrm>
            <a:off x="-264105" y="-111205"/>
            <a:ext cx="3371413" cy="7708508"/>
            <a:chOff x="-401570" y="-91165"/>
            <a:chExt cx="2530901" cy="5786734"/>
          </a:xfrm>
        </p:grpSpPr>
        <p:pic>
          <p:nvPicPr>
            <p:cNvPr id="91" name="Imagen 90">
              <a:extLst>
                <a:ext uri="{FF2B5EF4-FFF2-40B4-BE49-F238E27FC236}">
                  <a16:creationId xmlns:a16="http://schemas.microsoft.com/office/drawing/2014/main" id="{589B16DF-39F3-855D-D22F-03F3783B7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-401570" y="-91165"/>
              <a:ext cx="2530901" cy="5786734"/>
            </a:xfrm>
            <a:prstGeom prst="rect">
              <a:avLst/>
            </a:prstGeom>
          </p:spPr>
        </p:pic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EC0DB497-E3B1-67B4-3684-FF94927D10B7}"/>
                </a:ext>
              </a:extLst>
            </p:cNvPr>
            <p:cNvGrpSpPr/>
            <p:nvPr/>
          </p:nvGrpSpPr>
          <p:grpSpPr>
            <a:xfrm>
              <a:off x="344086" y="2758548"/>
              <a:ext cx="1374630" cy="322165"/>
              <a:chOff x="344086" y="2766232"/>
              <a:chExt cx="1374630" cy="322165"/>
            </a:xfrm>
          </p:grpSpPr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BB705FFC-C555-B255-1E66-2BAC0C5A1FED}"/>
                  </a:ext>
                </a:extLst>
              </p:cNvPr>
              <p:cNvSpPr txBox="1"/>
              <p:nvPr/>
            </p:nvSpPr>
            <p:spPr>
              <a:xfrm>
                <a:off x="593645" y="2766232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Application</a:t>
                </a:r>
                <a:r>
                  <a:rPr lang="es-CO" sz="1332">
                    <a:solidFill>
                      <a:schemeClr val="bg1"/>
                    </a:solidFill>
                  </a:rPr>
                  <a:t> </a:t>
                </a:r>
                <a:r>
                  <a:rPr lang="es-CO" sz="1332" err="1">
                    <a:solidFill>
                      <a:schemeClr val="bg1"/>
                    </a:solidFill>
                  </a:rPr>
                  <a:t>integration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63" name="Imagen 62">
                <a:extLst>
                  <a:ext uri="{FF2B5EF4-FFF2-40B4-BE49-F238E27FC236}">
                    <a16:creationId xmlns:a16="http://schemas.microsoft.com/office/drawing/2014/main" id="{D93D1255-7465-74A0-0C60-995C6C71A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4086" y="2839936"/>
                <a:ext cx="190500" cy="203200"/>
              </a:xfrm>
              <a:prstGeom prst="rect">
                <a:avLst/>
              </a:prstGeom>
            </p:spPr>
          </p:pic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29D55F9B-A317-3BDE-7422-0D38CD83452F}"/>
                </a:ext>
              </a:extLst>
            </p:cNvPr>
            <p:cNvGrpSpPr/>
            <p:nvPr/>
          </p:nvGrpSpPr>
          <p:grpSpPr>
            <a:xfrm>
              <a:off x="312336" y="3227274"/>
              <a:ext cx="1406380" cy="322165"/>
              <a:chOff x="312336" y="3227274"/>
              <a:chExt cx="1406380" cy="322165"/>
            </a:xfrm>
          </p:grpSpPr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1FB2068F-E7EE-555F-6910-BE5622073E6D}"/>
                  </a:ext>
                </a:extLst>
              </p:cNvPr>
              <p:cNvSpPr txBox="1"/>
              <p:nvPr/>
            </p:nvSpPr>
            <p:spPr>
              <a:xfrm>
                <a:off x="593645" y="3227274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BigData</a:t>
                </a:r>
                <a:r>
                  <a:rPr lang="es-CO" sz="1332">
                    <a:solidFill>
                      <a:schemeClr val="bg1"/>
                    </a:solidFill>
                  </a:rPr>
                  <a:t> </a:t>
                </a:r>
              </a:p>
              <a:p>
                <a:pPr>
                  <a:lnSpc>
                    <a:spcPts val="1332"/>
                  </a:lnSpc>
                </a:pPr>
                <a:r>
                  <a:rPr lang="es-CO" sz="1332">
                    <a:solidFill>
                      <a:schemeClr val="bg1"/>
                    </a:solidFill>
                  </a:rPr>
                  <a:t>&amp; </a:t>
                </a:r>
                <a:r>
                  <a:rPr lang="es-CO" sz="1332" err="1">
                    <a:solidFill>
                      <a:schemeClr val="bg1"/>
                    </a:solidFill>
                  </a:rPr>
                  <a:t>Analytics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EA3AD28E-6AB4-FEC2-60CC-5AD8BE2FF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2336" y="3300978"/>
                <a:ext cx="254000" cy="203200"/>
              </a:xfrm>
              <a:prstGeom prst="rect">
                <a:avLst/>
              </a:prstGeom>
            </p:spPr>
          </p:pic>
        </p:grpSp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80B71698-380B-5628-2F31-ACC37A1E88D1}"/>
                </a:ext>
              </a:extLst>
            </p:cNvPr>
            <p:cNvGrpSpPr/>
            <p:nvPr/>
          </p:nvGrpSpPr>
          <p:grpSpPr>
            <a:xfrm>
              <a:off x="337736" y="3747806"/>
              <a:ext cx="1380980" cy="203778"/>
              <a:chOff x="337736" y="3747806"/>
              <a:chExt cx="1380980" cy="203778"/>
            </a:xfrm>
          </p:grpSpPr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C92B23B0-A2CB-6378-BD3A-256C47EF0AAD}"/>
                  </a:ext>
                </a:extLst>
              </p:cNvPr>
              <p:cNvSpPr txBox="1"/>
              <p:nvPr/>
            </p:nvSpPr>
            <p:spPr>
              <a:xfrm>
                <a:off x="593645" y="3747806"/>
                <a:ext cx="1125071" cy="197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Cybersecurity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67" name="Imagen 66">
                <a:extLst>
                  <a:ext uri="{FF2B5EF4-FFF2-40B4-BE49-F238E27FC236}">
                    <a16:creationId xmlns:a16="http://schemas.microsoft.com/office/drawing/2014/main" id="{159160EB-957E-740D-33E9-BE4D4ED9A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7736" y="3748384"/>
                <a:ext cx="203200" cy="203200"/>
              </a:xfrm>
              <a:prstGeom prst="rect">
                <a:avLst/>
              </a:prstGeom>
            </p:spPr>
          </p:pic>
        </p:grpSp>
        <p:grpSp>
          <p:nvGrpSpPr>
            <p:cNvPr id="82" name="Grupo 81">
              <a:extLst>
                <a:ext uri="{FF2B5EF4-FFF2-40B4-BE49-F238E27FC236}">
                  <a16:creationId xmlns:a16="http://schemas.microsoft.com/office/drawing/2014/main" id="{B2C0E4F9-8390-1D17-43D3-A20CA43420FF}"/>
                </a:ext>
              </a:extLst>
            </p:cNvPr>
            <p:cNvGrpSpPr/>
            <p:nvPr/>
          </p:nvGrpSpPr>
          <p:grpSpPr>
            <a:xfrm>
              <a:off x="293286" y="1844148"/>
              <a:ext cx="1425430" cy="322165"/>
              <a:chOff x="293286" y="1844148"/>
              <a:chExt cx="1425430" cy="322165"/>
            </a:xfrm>
          </p:grpSpPr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CDDA74EC-39CE-B420-0EB4-D2E730DE3CDE}"/>
                  </a:ext>
                </a:extLst>
              </p:cNvPr>
              <p:cNvSpPr txBox="1"/>
              <p:nvPr/>
            </p:nvSpPr>
            <p:spPr>
              <a:xfrm>
                <a:off x="593645" y="1844148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Devops</a:t>
                </a:r>
                <a:r>
                  <a:rPr lang="es-CO" sz="1332">
                    <a:solidFill>
                      <a:schemeClr val="bg1"/>
                    </a:solidFill>
                  </a:rPr>
                  <a:t> &amp; </a:t>
                </a:r>
                <a:r>
                  <a:rPr lang="es-CO" sz="1332" err="1">
                    <a:solidFill>
                      <a:schemeClr val="bg1"/>
                    </a:solidFill>
                  </a:rPr>
                  <a:t>DevSecOps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69" name="Imagen 68">
                <a:extLst>
                  <a:ext uri="{FF2B5EF4-FFF2-40B4-BE49-F238E27FC236}">
                    <a16:creationId xmlns:a16="http://schemas.microsoft.com/office/drawing/2014/main" id="{9B36F868-E9CF-BE4C-FBF1-56B1FB3A8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3286" y="1949602"/>
                <a:ext cx="292100" cy="139700"/>
              </a:xfrm>
              <a:prstGeom prst="rect">
                <a:avLst/>
              </a:prstGeom>
            </p:spPr>
          </p:pic>
        </p:grp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BF2820ED-B265-E292-2886-06FFBCB74BC8}"/>
                </a:ext>
              </a:extLst>
            </p:cNvPr>
            <p:cNvGrpSpPr/>
            <p:nvPr/>
          </p:nvGrpSpPr>
          <p:grpSpPr>
            <a:xfrm>
              <a:off x="293286" y="4674848"/>
              <a:ext cx="1425430" cy="219134"/>
              <a:chOff x="293286" y="4659480"/>
              <a:chExt cx="1425430" cy="219134"/>
            </a:xfrm>
          </p:grpSpPr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4AD04C7A-DC75-AD98-BD6F-B92B07E55E5A}"/>
                  </a:ext>
                </a:extLst>
              </p:cNvPr>
              <p:cNvSpPr txBox="1"/>
              <p:nvPr/>
            </p:nvSpPr>
            <p:spPr>
              <a:xfrm>
                <a:off x="593645" y="4659480"/>
                <a:ext cx="1125071" cy="197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Help</a:t>
                </a:r>
                <a:r>
                  <a:rPr lang="es-CO" sz="1332">
                    <a:solidFill>
                      <a:schemeClr val="bg1"/>
                    </a:solidFill>
                  </a:rPr>
                  <a:t> </a:t>
                </a:r>
                <a:r>
                  <a:rPr lang="es-CO" sz="1332" err="1">
                    <a:solidFill>
                      <a:schemeClr val="bg1"/>
                    </a:solidFill>
                  </a:rPr>
                  <a:t>Desk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71" name="Imagen 70">
                <a:extLst>
                  <a:ext uri="{FF2B5EF4-FFF2-40B4-BE49-F238E27FC236}">
                    <a16:creationId xmlns:a16="http://schemas.microsoft.com/office/drawing/2014/main" id="{2BB5E6B8-C8B7-5937-1DB6-BFBDA59CF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3286" y="4662714"/>
                <a:ext cx="292100" cy="215900"/>
              </a:xfrm>
              <a:prstGeom prst="rect">
                <a:avLst/>
              </a:prstGeom>
            </p:spPr>
          </p:pic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6FD109B5-53F3-E882-C463-09979CFFC66A}"/>
                </a:ext>
              </a:extLst>
            </p:cNvPr>
            <p:cNvGrpSpPr/>
            <p:nvPr/>
          </p:nvGrpSpPr>
          <p:grpSpPr>
            <a:xfrm>
              <a:off x="337736" y="4210682"/>
              <a:ext cx="1380980" cy="212784"/>
              <a:chOff x="337736" y="4210682"/>
              <a:chExt cx="1380980" cy="212784"/>
            </a:xfrm>
          </p:grpSpPr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35A76AA-BEC7-6F0F-6EA5-2BED862699DF}"/>
                  </a:ext>
                </a:extLst>
              </p:cNvPr>
              <p:cNvSpPr txBox="1"/>
              <p:nvPr/>
            </p:nvSpPr>
            <p:spPr>
              <a:xfrm>
                <a:off x="593645" y="4210682"/>
                <a:ext cx="1125071" cy="197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Metaverse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73" name="Imagen 72">
                <a:extLst>
                  <a:ext uri="{FF2B5EF4-FFF2-40B4-BE49-F238E27FC236}">
                    <a16:creationId xmlns:a16="http://schemas.microsoft.com/office/drawing/2014/main" id="{5B175860-5248-8134-DFBA-55E306466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7736" y="4220266"/>
                <a:ext cx="203200" cy="203200"/>
              </a:xfrm>
              <a:prstGeom prst="rect">
                <a:avLst/>
              </a:prstGeom>
            </p:spPr>
          </p:pic>
        </p:grpSp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B06532FE-E4D3-C3AE-B7E5-BA37FFE8FFB6}"/>
                </a:ext>
              </a:extLst>
            </p:cNvPr>
            <p:cNvGrpSpPr/>
            <p:nvPr/>
          </p:nvGrpSpPr>
          <p:grpSpPr>
            <a:xfrm>
              <a:off x="331386" y="1375422"/>
              <a:ext cx="1387330" cy="322165"/>
              <a:chOff x="331386" y="1375422"/>
              <a:chExt cx="1387330" cy="322165"/>
            </a:xfrm>
          </p:grpSpPr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C1FE7074-E713-F8CB-53C0-B1FE1C22453B}"/>
                  </a:ext>
                </a:extLst>
              </p:cNvPr>
              <p:cNvSpPr txBox="1"/>
              <p:nvPr/>
            </p:nvSpPr>
            <p:spPr>
              <a:xfrm>
                <a:off x="593645" y="1375422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Multicloud</a:t>
                </a:r>
                <a:r>
                  <a:rPr lang="es-CO" sz="1332">
                    <a:solidFill>
                      <a:schemeClr val="bg1"/>
                    </a:solidFill>
                  </a:rPr>
                  <a:t> Computing</a:t>
                </a:r>
              </a:p>
            </p:txBody>
          </p:sp>
          <p:pic>
            <p:nvPicPr>
              <p:cNvPr id="75" name="Imagen 74">
                <a:extLst>
                  <a:ext uri="{FF2B5EF4-FFF2-40B4-BE49-F238E27FC236}">
                    <a16:creationId xmlns:a16="http://schemas.microsoft.com/office/drawing/2014/main" id="{6641BEC8-17F4-65C7-1660-F35B92C8F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1386" y="1449126"/>
                <a:ext cx="215900" cy="203200"/>
              </a:xfrm>
              <a:prstGeom prst="rect">
                <a:avLst/>
              </a:prstGeom>
            </p:spPr>
          </p:pic>
        </p:grp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768F0D04-5E06-2201-004C-8FF4666887F5}"/>
                </a:ext>
              </a:extLst>
            </p:cNvPr>
            <p:cNvGrpSpPr/>
            <p:nvPr/>
          </p:nvGrpSpPr>
          <p:grpSpPr>
            <a:xfrm>
              <a:off x="337736" y="2297506"/>
              <a:ext cx="1380980" cy="322165"/>
              <a:chOff x="337736" y="2320558"/>
              <a:chExt cx="1380980" cy="322165"/>
            </a:xfrm>
          </p:grpSpPr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4118F966-0FE8-FC7F-1983-60D8FE8DB942}"/>
                  </a:ext>
                </a:extLst>
              </p:cNvPr>
              <p:cNvSpPr txBox="1"/>
              <p:nvPr/>
            </p:nvSpPr>
            <p:spPr>
              <a:xfrm>
                <a:off x="593645" y="2320558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Process</a:t>
                </a:r>
                <a:r>
                  <a:rPr lang="es-CO" sz="1332">
                    <a:solidFill>
                      <a:schemeClr val="bg1"/>
                    </a:solidFill>
                  </a:rPr>
                  <a:t> </a:t>
                </a:r>
              </a:p>
              <a:p>
                <a:pPr>
                  <a:lnSpc>
                    <a:spcPts val="1332"/>
                  </a:lnSpc>
                </a:pPr>
                <a:r>
                  <a:rPr lang="es-CO" sz="1332" err="1">
                    <a:solidFill>
                      <a:schemeClr val="bg1"/>
                    </a:solidFill>
                  </a:rPr>
                  <a:t>automation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77" name="Imagen 76">
                <a:extLst>
                  <a:ext uri="{FF2B5EF4-FFF2-40B4-BE49-F238E27FC236}">
                    <a16:creationId xmlns:a16="http://schemas.microsoft.com/office/drawing/2014/main" id="{2ED7421D-1D19-2970-A8B1-A150B227F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7736" y="2394262"/>
                <a:ext cx="203200" cy="203200"/>
              </a:xfrm>
              <a:prstGeom prst="rect">
                <a:avLst/>
              </a:prstGeom>
            </p:spPr>
          </p:pic>
        </p:grpSp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FC3EE2FD-AD23-5BD3-B9F0-2E8E73800D5B}"/>
                </a:ext>
              </a:extLst>
            </p:cNvPr>
            <p:cNvGrpSpPr/>
            <p:nvPr/>
          </p:nvGrpSpPr>
          <p:grpSpPr>
            <a:xfrm>
              <a:off x="350436" y="911847"/>
              <a:ext cx="1368280" cy="322165"/>
              <a:chOff x="350436" y="911847"/>
              <a:chExt cx="1368280" cy="322165"/>
            </a:xfrm>
          </p:grpSpPr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6648DB9C-1DA3-DF7D-6992-96CFF274B2A5}"/>
                  </a:ext>
                </a:extLst>
              </p:cNvPr>
              <p:cNvSpPr txBox="1"/>
              <p:nvPr/>
            </p:nvSpPr>
            <p:spPr>
              <a:xfrm>
                <a:off x="593645" y="911847"/>
                <a:ext cx="1125071" cy="322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32"/>
                  </a:lnSpc>
                </a:pPr>
                <a:r>
                  <a:rPr lang="es-CO" sz="1332">
                    <a:solidFill>
                      <a:schemeClr val="bg1"/>
                    </a:solidFill>
                  </a:rPr>
                  <a:t>Artificial </a:t>
                </a:r>
                <a:r>
                  <a:rPr lang="es-CO" sz="1332" err="1">
                    <a:solidFill>
                      <a:schemeClr val="bg1"/>
                    </a:solidFill>
                  </a:rPr>
                  <a:t>Intelligence</a:t>
                </a:r>
                <a:endParaRPr lang="es-CO" sz="1332">
                  <a:solidFill>
                    <a:schemeClr val="bg1"/>
                  </a:solidFill>
                </a:endParaRPr>
              </a:p>
            </p:txBody>
          </p:sp>
          <p:pic>
            <p:nvPicPr>
              <p:cNvPr id="79" name="Imagen 78">
                <a:extLst>
                  <a:ext uri="{FF2B5EF4-FFF2-40B4-BE49-F238E27FC236}">
                    <a16:creationId xmlns:a16="http://schemas.microsoft.com/office/drawing/2014/main" id="{3F59F395-D3B7-5C14-6E73-DC474D768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50436" y="985551"/>
                <a:ext cx="177800" cy="203200"/>
              </a:xfrm>
              <a:prstGeom prst="rect">
                <a:avLst/>
              </a:prstGeom>
            </p:spPr>
          </p:pic>
        </p:grp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31D33017-1CE5-4E09-3793-ABD7BDF67B59}"/>
                </a:ext>
              </a:extLst>
            </p:cNvPr>
            <p:cNvSpPr txBox="1"/>
            <p:nvPr/>
          </p:nvSpPr>
          <p:spPr>
            <a:xfrm>
              <a:off x="162657" y="286093"/>
              <a:ext cx="1404886" cy="436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65"/>
                </a:lnSpc>
              </a:pPr>
              <a:r>
                <a:rPr lang="es-CO" sz="1865" spc="400">
                  <a:solidFill>
                    <a:schemeClr val="bg1"/>
                  </a:solidFill>
                  <a:latin typeface="+mj-lt"/>
                </a:rPr>
                <a:t>EVOLUCIÓN DIGITAL</a:t>
              </a:r>
            </a:p>
          </p:txBody>
        </p:sp>
      </p:grpSp>
      <p:pic>
        <p:nvPicPr>
          <p:cNvPr id="95" name="Imagen 9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2553A28-E69E-BABF-81DA-32E8247AA08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33718" y="6280687"/>
            <a:ext cx="1459149" cy="29183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9F3FD2F-8274-1C31-37C4-035BDFDC5782}"/>
              </a:ext>
            </a:extLst>
          </p:cNvPr>
          <p:cNvGrpSpPr/>
          <p:nvPr/>
        </p:nvGrpSpPr>
        <p:grpSpPr>
          <a:xfrm>
            <a:off x="2996770" y="5879557"/>
            <a:ext cx="4152639" cy="663752"/>
            <a:chOff x="6259195" y="4755450"/>
            <a:chExt cx="6316573" cy="867261"/>
          </a:xfrm>
        </p:grpSpPr>
        <p:pic>
          <p:nvPicPr>
            <p:cNvPr id="8" name="Imagen 7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B74BC87A-8E07-A9E3-98BB-260AB8956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259195" y="4804025"/>
              <a:ext cx="1763746" cy="818686"/>
            </a:xfrm>
            <a:prstGeom prst="round1Rect">
              <a:avLst/>
            </a:prstGeom>
          </p:spPr>
        </p:pic>
        <p:pic>
          <p:nvPicPr>
            <p:cNvPr id="12" name="Imagen 11" descr="Logotipo&#10;&#10;Descripción generada automáticamente">
              <a:extLst>
                <a:ext uri="{FF2B5EF4-FFF2-40B4-BE49-F238E27FC236}">
                  <a16:creationId xmlns:a16="http://schemas.microsoft.com/office/drawing/2014/main" id="{FF7D3185-E5D7-4DDF-6335-C25C067C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812022" y="4755450"/>
              <a:ext cx="1763746" cy="818686"/>
            </a:xfrm>
            <a:prstGeom prst="round1Rect">
              <a:avLst/>
            </a:prstGeom>
          </p:spPr>
        </p:pic>
        <p:pic>
          <p:nvPicPr>
            <p:cNvPr id="14" name="Imagen 13" descr="Logotipo&#10;&#10;Descripción generada automáticamente">
              <a:extLst>
                <a:ext uri="{FF2B5EF4-FFF2-40B4-BE49-F238E27FC236}">
                  <a16:creationId xmlns:a16="http://schemas.microsoft.com/office/drawing/2014/main" id="{0994124D-C582-0886-F5BC-0C540B017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535403" y="4804023"/>
              <a:ext cx="1763746" cy="818686"/>
            </a:xfrm>
            <a:prstGeom prst="round1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47F32BB-63AF-0F75-2EE9-2369BA0B3748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6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220EAE56-FFAE-222F-722B-48C89440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" y="3172"/>
            <a:ext cx="12169439" cy="68548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487170-FFA9-BB2F-8FC2-F485A475A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54" y="4088545"/>
            <a:ext cx="1692345" cy="361472"/>
          </a:xfrm>
          <a:prstGeom prst="rect">
            <a:avLst/>
          </a:prstGeom>
        </p:spPr>
      </p:pic>
      <p:pic>
        <p:nvPicPr>
          <p:cNvPr id="8" name="Imagen 7" descr="Icono&#10;&#10;Descripción generada automáticamente con confianza media">
            <a:extLst>
              <a:ext uri="{FF2B5EF4-FFF2-40B4-BE49-F238E27FC236}">
                <a16:creationId xmlns:a16="http://schemas.microsoft.com/office/drawing/2014/main" id="{DCABB297-CF6D-E827-40A7-A7A411CB8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23" y="4003027"/>
            <a:ext cx="1641375" cy="523843"/>
          </a:xfrm>
          <a:prstGeom prst="rect">
            <a:avLst/>
          </a:prstGeom>
        </p:spPr>
      </p:pic>
      <p:pic>
        <p:nvPicPr>
          <p:cNvPr id="10" name="Imagen 9" descr="Imagen que contiene objeto, reloj, firmar, calle&#10;&#10;Descripción generada automáticamente">
            <a:extLst>
              <a:ext uri="{FF2B5EF4-FFF2-40B4-BE49-F238E27FC236}">
                <a16:creationId xmlns:a16="http://schemas.microsoft.com/office/drawing/2014/main" id="{0BD6B495-61AF-BA7B-FE0C-B76DF918A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10" y="4063971"/>
            <a:ext cx="1641375" cy="406436"/>
          </a:xfrm>
          <a:prstGeom prst="rect">
            <a:avLst/>
          </a:prstGeom>
        </p:spPr>
      </p:pic>
      <p:pic>
        <p:nvPicPr>
          <p:cNvPr id="12" name="Imagen 1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03BCEAED-307A-AA34-B85B-A6742CDD0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496" y="3959809"/>
            <a:ext cx="1760538" cy="603613"/>
          </a:xfrm>
          <a:prstGeom prst="rect">
            <a:avLst/>
          </a:prstGeom>
        </p:spPr>
      </p:pic>
      <p:pic>
        <p:nvPicPr>
          <p:cNvPr id="14" name="Imagen 13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C8C2C5F-9F0F-7015-E6CD-595AA155C5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900" y="5105192"/>
            <a:ext cx="1083591" cy="65015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749E03E-9D64-C29B-6A83-7D450B5368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9671" y="5254784"/>
            <a:ext cx="1519426" cy="341444"/>
          </a:xfrm>
          <a:prstGeom prst="rect">
            <a:avLst/>
          </a:prstGeom>
        </p:spPr>
      </p:pic>
      <p:pic>
        <p:nvPicPr>
          <p:cNvPr id="18" name="Imagen 17" descr="Forma&#10;&#10;Descripción generada automáticamente con confianza media">
            <a:extLst>
              <a:ext uri="{FF2B5EF4-FFF2-40B4-BE49-F238E27FC236}">
                <a16:creationId xmlns:a16="http://schemas.microsoft.com/office/drawing/2014/main" id="{3D93E70E-E31E-BCF5-E21E-19B346BE58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9488" y="5215820"/>
            <a:ext cx="1808232" cy="430532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44F494D-F057-A2D9-CDFE-6049FB8387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7733" y="6263263"/>
            <a:ext cx="1459149" cy="29183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919E247-0F24-96BD-4D45-F2C10893541F}"/>
              </a:ext>
            </a:extLst>
          </p:cNvPr>
          <p:cNvSpPr txBox="1">
            <a:spLocks/>
          </p:cNvSpPr>
          <p:nvPr/>
        </p:nvSpPr>
        <p:spPr>
          <a:xfrm>
            <a:off x="3836965" y="1392552"/>
            <a:ext cx="4335756" cy="641017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97"/>
              </a:lnSpc>
              <a:buNone/>
            </a:pPr>
            <a:r>
              <a:rPr lang="es-CO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Aliados de negocio: </a:t>
            </a:r>
            <a:r>
              <a:rPr lang="es-CO" sz="2900" b="1" err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partners</a:t>
            </a:r>
            <a:endParaRPr lang="es-CO" sz="2900" b="1" err="1">
              <a:gradFill>
                <a:gsLst>
                  <a:gs pos="0">
                    <a:srgbClr val="54A271"/>
                  </a:gs>
                  <a:gs pos="50000">
                    <a:srgbClr val="253880"/>
                  </a:gs>
                  <a:gs pos="100000">
                    <a:srgbClr val="B53256"/>
                  </a:gs>
                </a:gsLst>
                <a:lin ang="0" scaled="0"/>
              </a:gra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1F6C6A2-2450-6BB2-85E6-AD8498BDF2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83" y="201110"/>
            <a:ext cx="1172394" cy="3019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580B18F-A8D4-8D1A-502D-1CEAD8FEC8F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5723079-A798-B2F3-553C-D7EE837C24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8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02694B73-5121-E7EB-2208-2AAE6791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63" y="869425"/>
            <a:ext cx="6628721" cy="5404357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F4A89F6E-8AB5-D414-5382-4C5FF8785599}"/>
              </a:ext>
            </a:extLst>
          </p:cNvPr>
          <p:cNvSpPr txBox="1">
            <a:spLocks/>
          </p:cNvSpPr>
          <p:nvPr/>
        </p:nvSpPr>
        <p:spPr>
          <a:xfrm>
            <a:off x="387445" y="333543"/>
            <a:ext cx="5285613" cy="505269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597"/>
              </a:lnSpc>
              <a:buNone/>
            </a:pPr>
            <a:r>
              <a:rPr lang="es-ES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Estructura </a:t>
            </a:r>
            <a:r>
              <a:rPr lang="es-CO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Organizacional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D0FF8E2-9CB2-0F49-9265-B3E90F5870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5B483BC-AE03-EECB-0AA8-A81EFDDBB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500452-0374-43AE-36EA-D13368D6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29F8ED2-C690-5171-A0E8-56A4C4BE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" r="410"/>
          <a:stretch/>
        </p:blipFill>
        <p:spPr>
          <a:xfrm>
            <a:off x="5639" y="305877"/>
            <a:ext cx="12180722" cy="6748792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CC90CCA-D524-A1FF-0504-161AEC2D1C0E}"/>
              </a:ext>
            </a:extLst>
          </p:cNvPr>
          <p:cNvSpPr txBox="1">
            <a:spLocks/>
          </p:cNvSpPr>
          <p:nvPr/>
        </p:nvSpPr>
        <p:spPr>
          <a:xfrm>
            <a:off x="394214" y="929489"/>
            <a:ext cx="7602076" cy="729347"/>
          </a:xfrm>
          <a:prstGeom prst="rect">
            <a:avLst/>
          </a:prstGeom>
        </p:spPr>
        <p:txBody>
          <a:bodyPr vert="horz" lIns="91355" tIns="45678" rIns="91355" bIns="4567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554">
              <a:spcBef>
                <a:spcPts val="999"/>
              </a:spcBef>
              <a:buNone/>
            </a:pPr>
            <a:endParaRPr lang="es-CO" sz="1998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F8D35C3-A1CA-D8D0-734A-5AF23044B9AA}"/>
              </a:ext>
            </a:extLst>
          </p:cNvPr>
          <p:cNvGrpSpPr/>
          <p:nvPr/>
        </p:nvGrpSpPr>
        <p:grpSpPr>
          <a:xfrm>
            <a:off x="6661502" y="1208468"/>
            <a:ext cx="6356404" cy="2334841"/>
            <a:chOff x="7118734" y="5563692"/>
            <a:chExt cx="6362288" cy="2337006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D69CE3E-135F-302A-A265-BD28BE8B3436}"/>
                </a:ext>
              </a:extLst>
            </p:cNvPr>
            <p:cNvSpPr txBox="1"/>
            <p:nvPr/>
          </p:nvSpPr>
          <p:spPr>
            <a:xfrm>
              <a:off x="8709950" y="5563692"/>
              <a:ext cx="4771072" cy="40048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s-CO" sz="20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Relaciones con el cliente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53068B09-9899-5057-3EDD-15C67DBFA1EA}"/>
                </a:ext>
              </a:extLst>
            </p:cNvPr>
            <p:cNvSpPr txBox="1"/>
            <p:nvPr/>
          </p:nvSpPr>
          <p:spPr>
            <a:xfrm>
              <a:off x="7118734" y="5966197"/>
              <a:ext cx="5450116" cy="193450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endParaRPr lang="es-ES" sz="1865">
                <a:ea typeface="+mn-lt"/>
                <a:cs typeface="+mn-lt"/>
              </a:endParaRPr>
            </a:p>
            <a:p>
              <a:endParaRPr lang="es-ES" sz="1865">
                <a:ea typeface="+mn-lt"/>
                <a:cs typeface="+mn-lt"/>
              </a:endParaRPr>
            </a:p>
            <a:p>
              <a:endParaRPr lang="es-ES" sz="1865">
                <a:ea typeface="+mn-lt"/>
                <a:cs typeface="+mn-lt"/>
              </a:endParaRPr>
            </a:p>
            <a:p>
              <a:endParaRPr lang="es-ES" sz="1865">
                <a:ea typeface="+mn-lt"/>
                <a:cs typeface="+mn-lt"/>
              </a:endParaRPr>
            </a:p>
            <a:p>
              <a:r>
                <a:rPr lang="es-ES" sz="1850">
                  <a:latin typeface="Calibri"/>
                  <a:ea typeface="+mn-lt"/>
                  <a:cs typeface="+mn-lt"/>
                </a:rPr>
                <a:t>Enfocada en confianza, fidelización y acompañamiento continuo en innovación y soporte.</a:t>
              </a:r>
            </a:p>
            <a:p>
              <a:endParaRPr lang="es-CO" sz="799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6D2D73F-5E6C-DB19-0764-9C61C38874F6}"/>
              </a:ext>
            </a:extLst>
          </p:cNvPr>
          <p:cNvGrpSpPr/>
          <p:nvPr/>
        </p:nvGrpSpPr>
        <p:grpSpPr>
          <a:xfrm>
            <a:off x="5641" y="2238880"/>
            <a:ext cx="2760736" cy="4917979"/>
            <a:chOff x="1531112" y="3016708"/>
            <a:chExt cx="1810416" cy="4922536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922C3BE-7094-8BEC-9686-6946B29463E7}"/>
                </a:ext>
              </a:extLst>
            </p:cNvPr>
            <p:cNvSpPr txBox="1"/>
            <p:nvPr/>
          </p:nvSpPr>
          <p:spPr>
            <a:xfrm>
              <a:off x="2160817" y="3016708"/>
              <a:ext cx="1059173" cy="970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s-CO" sz="2000" b="1">
                  <a:solidFill>
                    <a:schemeClr val="bg1">
                      <a:lumMod val="95000"/>
                    </a:schemeClr>
                  </a:solidFill>
                  <a:latin typeface="Calibri"/>
                  <a:ea typeface="Calibri"/>
                  <a:cs typeface="Calibri"/>
                </a:rPr>
                <a:t>Propuesta de valor</a:t>
              </a:r>
              <a:endParaRPr lang="es-CO" sz="200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endParaRPr>
            </a:p>
            <a:p>
              <a:endParaRPr lang="es-CO" sz="1698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8A390FB-39CB-C250-FDA7-55EE618AE7D3}"/>
                </a:ext>
              </a:extLst>
            </p:cNvPr>
            <p:cNvSpPr txBox="1"/>
            <p:nvPr/>
          </p:nvSpPr>
          <p:spPr>
            <a:xfrm>
              <a:off x="1531112" y="3649699"/>
              <a:ext cx="1810416" cy="4289545"/>
            </a:xfrm>
            <a:prstGeom prst="rect">
              <a:avLst/>
            </a:prstGeom>
            <a:noFill/>
          </p:spPr>
          <p:txBody>
            <a:bodyPr wrap="square" lIns="91355" tIns="45678" rIns="91355" bIns="45678" anchor="t">
              <a:spAutoFit/>
            </a:bodyPr>
            <a:lstStyle/>
            <a:p>
              <a:r>
                <a:rPr lang="es-ES" sz="1850" b="1">
                  <a:latin typeface="Calibri"/>
                  <a:ea typeface="+mn-lt"/>
                  <a:cs typeface="+mn-lt"/>
                </a:rPr>
                <a:t>Flexibilidad &amp; Velocidad: </a:t>
              </a:r>
              <a:r>
                <a:rPr lang="es-ES" sz="1850">
                  <a:latin typeface="Calibri"/>
                  <a:ea typeface="+mn-lt"/>
                  <a:cs typeface="+mn-lt"/>
                </a:rPr>
                <a:t>Soluciones personalizadas con entregas ágiles.</a:t>
              </a:r>
            </a:p>
            <a:p>
              <a:endParaRPr lang="es-ES" sz="1850">
                <a:latin typeface="Calibri"/>
                <a:ea typeface="+mn-lt"/>
                <a:cs typeface="+mn-lt"/>
              </a:endParaRPr>
            </a:p>
            <a:p>
              <a:r>
                <a:rPr lang="es-ES" sz="1850" b="1">
                  <a:latin typeface="Calibri"/>
                  <a:ea typeface="+mn-lt"/>
                  <a:cs typeface="+mn-lt"/>
                </a:rPr>
                <a:t>Innovación: </a:t>
              </a:r>
              <a:r>
                <a:rPr lang="es-ES" sz="1850">
                  <a:latin typeface="Calibri"/>
                  <a:ea typeface="+mn-lt"/>
                  <a:cs typeface="+mn-lt"/>
                </a:rPr>
                <a:t>Pensamiento disruptivo, uso de tecnologías de punta.</a:t>
              </a:r>
            </a:p>
            <a:p>
              <a:endParaRPr lang="es-ES" sz="1850">
                <a:latin typeface="Calibri"/>
                <a:ea typeface="+mn-lt"/>
                <a:cs typeface="+mn-lt"/>
              </a:endParaRPr>
            </a:p>
            <a:p>
              <a:r>
                <a:rPr lang="es-ES" sz="1850" b="1">
                  <a:latin typeface="Calibri"/>
                  <a:ea typeface="+mn-lt"/>
                  <a:cs typeface="+mn-lt"/>
                </a:rPr>
                <a:t>Evolución: </a:t>
              </a:r>
              <a:r>
                <a:rPr lang="es-ES" sz="1850">
                  <a:latin typeface="Calibri"/>
                  <a:ea typeface="+mn-lt"/>
                  <a:cs typeface="+mn-lt"/>
                </a:rPr>
                <a:t>Impulso a nuevos modelos de negocio.</a:t>
              </a:r>
            </a:p>
            <a:p>
              <a:endParaRPr lang="es-ES" sz="1850">
                <a:latin typeface="Calibri"/>
                <a:ea typeface="+mn-lt"/>
                <a:cs typeface="+mn-lt"/>
              </a:endParaRPr>
            </a:p>
            <a:p>
              <a:r>
                <a:rPr lang="es-ES" sz="1850" b="1">
                  <a:latin typeface="Calibri"/>
                  <a:ea typeface="+mn-lt"/>
                  <a:cs typeface="+mn-lt"/>
                </a:rPr>
                <a:t>Métricas: </a:t>
              </a:r>
              <a:r>
                <a:rPr lang="es-ES" sz="1850">
                  <a:latin typeface="Calibri"/>
                  <a:ea typeface="+mn-lt"/>
                  <a:cs typeface="+mn-lt"/>
                </a:rPr>
                <a:t>Seguimiento estratégico en tiempo real.</a:t>
              </a:r>
            </a:p>
            <a:p>
              <a:endParaRPr lang="es-CO" sz="1349">
                <a:solidFill>
                  <a:schemeClr val="bg1"/>
                </a:solidFill>
                <a:ea typeface="+mn-lt"/>
                <a:cs typeface="+mn-lt"/>
              </a:endParaRPr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6E3A4AD-D783-E80A-B5FF-0BA724E2F812}"/>
              </a:ext>
            </a:extLst>
          </p:cNvPr>
          <p:cNvSpPr txBox="1">
            <a:spLocks/>
          </p:cNvSpPr>
          <p:nvPr/>
        </p:nvSpPr>
        <p:spPr>
          <a:xfrm>
            <a:off x="387445" y="333543"/>
            <a:ext cx="5285613" cy="505269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597"/>
              </a:lnSpc>
              <a:buNone/>
            </a:pPr>
            <a:r>
              <a:rPr lang="es-ES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M</a:t>
            </a:r>
            <a:r>
              <a:rPr lang="es-CO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odelo de negocio 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38D13982-8C3E-DCB9-6FB6-0F3DEA82B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000" y1="18000" x2="52637" y2="19583"/>
                        <a14:foregroundMark x1="51438" y1="18836" x2="52000" y2="18000"/>
                        <a14:backgroundMark x1="51167" y1="21333" x2="52000" y2="21667"/>
                        <a14:backgroundMark x1="53833" y1="20167" x2="50833" y2="25000"/>
                        <a14:backgroundMark x1="56333" y1="26167" x2="51500" y2="29500"/>
                        <a14:backgroundMark x1="47833" y1="22333" x2="54833" y2="32000"/>
                        <a14:backgroundMark x1="49333" y1="30833" x2="46333" y2="26833"/>
                        <a14:backgroundMark x1="46000" y1="26500" x2="48667" y2="30167"/>
                        <a14:backgroundMark x1="56000" y1="33167" x2="56000" y2="31333"/>
                        <a14:backgroundMark x1="57500" y1="30167" x2="55667" y2="31333"/>
                        <a14:backgroundMark x1="56000" y1="30833" x2="56000" y2="32833"/>
                        <a14:backgroundMark x1="46833" y1="25333" x2="45667" y2="26500"/>
                        <a14:backgroundMark x1="52667" y1="19500" x2="52667" y2="19500"/>
                        <a14:backgroundMark x1="52333" y1="19500" x2="52333" y2="19500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606489" y="1599008"/>
            <a:ext cx="1008160" cy="100816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634DF56-1EE2-54CB-0F71-9A325233B520}"/>
              </a:ext>
            </a:extLst>
          </p:cNvPr>
          <p:cNvCxnSpPr>
            <a:cxnSpLocks/>
          </p:cNvCxnSpPr>
          <p:nvPr/>
        </p:nvCxnSpPr>
        <p:spPr>
          <a:xfrm>
            <a:off x="2766376" y="2240833"/>
            <a:ext cx="0" cy="47360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Imagen 44">
            <a:extLst>
              <a:ext uri="{FF2B5EF4-FFF2-40B4-BE49-F238E27FC236}">
                <a16:creationId xmlns:a16="http://schemas.microsoft.com/office/drawing/2014/main" id="{01020CD6-1338-14B1-C645-6E5075D932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3596" r="94719">
                        <a14:foregroundMark x1="44157" y1="40112" x2="27865" y2="53933"/>
                        <a14:foregroundMark x1="27865" y1="53933" x2="10674" y2="38090"/>
                        <a14:foregroundMark x1="10674" y1="38090" x2="16629" y2="28876"/>
                        <a14:foregroundMark x1="16629" y1="28876" x2="27865" y2="27191"/>
                        <a14:foregroundMark x1="27865" y1="27191" x2="38427" y2="28202"/>
                        <a14:foregroundMark x1="38427" y1="28202" x2="45056" y2="35955"/>
                        <a14:foregroundMark x1="45056" y1="35955" x2="44157" y2="40337"/>
                        <a14:foregroundMark x1="28090" y1="18315" x2="28090" y2="16854"/>
                        <a14:foregroundMark x1="15506" y1="19551" x2="15506" y2="19551"/>
                        <a14:foregroundMark x1="40112" y1="21348" x2="40112" y2="21348"/>
                        <a14:foregroundMark x1="8315" y1="65281" x2="8315" y2="65281"/>
                        <a14:foregroundMark x1="3596" y1="65281" x2="3596" y2="65281"/>
                        <a14:foregroundMark x1="94719" y1="62022" x2="94719" y2="62022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8342" y="1939743"/>
            <a:ext cx="901166" cy="901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0411B75D-7EC6-384A-FE17-F8825F98DC53}"/>
                  </a:ext>
                </a:extLst>
              </p14:cNvPr>
              <p14:cNvContentPartPr/>
              <p14:nvPr/>
            </p14:nvContentPartPr>
            <p14:xfrm>
              <a:off x="5368354" y="3028476"/>
              <a:ext cx="480" cy="480"/>
            </p14:xfrm>
          </p:contentPart>
        </mc:Choice>
        <mc:Fallback xmlns=""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0411B75D-7EC6-384A-FE17-F8825F98DC5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6354" y="3016476"/>
                <a:ext cx="24000" cy="24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C75DFB45-D302-9905-1F70-8BA880FB235A}"/>
              </a:ext>
            </a:extLst>
          </p:cNvPr>
          <p:cNvCxnSpPr>
            <a:cxnSpLocks/>
          </p:cNvCxnSpPr>
          <p:nvPr/>
        </p:nvCxnSpPr>
        <p:spPr>
          <a:xfrm>
            <a:off x="6564665" y="1658836"/>
            <a:ext cx="54279" cy="54454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6" name="Imagen 55">
            <a:extLst>
              <a:ext uri="{FF2B5EF4-FFF2-40B4-BE49-F238E27FC236}">
                <a16:creationId xmlns:a16="http://schemas.microsoft.com/office/drawing/2014/main" id="{C0882868-84B0-407C-7332-5C1E60765843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50000"/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2780619" y="2247823"/>
            <a:ext cx="871292" cy="662440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C2B09A64-01A0-5DFF-CF02-98AD0421B5F1}"/>
              </a:ext>
            </a:extLst>
          </p:cNvPr>
          <p:cNvSpPr txBox="1"/>
          <p:nvPr/>
        </p:nvSpPr>
        <p:spPr>
          <a:xfrm>
            <a:off x="3737219" y="2184448"/>
            <a:ext cx="128997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s-CO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anales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8AC944C-54C0-7C7D-1DE8-EBB9DEA03C6E}"/>
              </a:ext>
            </a:extLst>
          </p:cNvPr>
          <p:cNvSpPr txBox="1"/>
          <p:nvPr/>
        </p:nvSpPr>
        <p:spPr>
          <a:xfrm>
            <a:off x="2766764" y="3035814"/>
            <a:ext cx="3842149" cy="41031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s-ES" sz="1865"/>
          </a:p>
          <a:p>
            <a:r>
              <a:rPr lang="es-ES" sz="1850" b="1">
                <a:latin typeface="Calibri"/>
                <a:ea typeface="Calibri"/>
                <a:cs typeface="Calibri"/>
              </a:rPr>
              <a:t>Presenciales</a:t>
            </a:r>
            <a:r>
              <a:rPr lang="es-ES" sz="1850">
                <a:latin typeface="Calibri"/>
                <a:ea typeface="Calibri"/>
                <a:cs typeface="Calibri"/>
              </a:rPr>
              <a:t>: oficinas en 7 países, eventos tecnológicos, ferias tecnológicas, asociaciones con </a:t>
            </a:r>
            <a:r>
              <a:rPr lang="es-ES" sz="1850" err="1">
                <a:latin typeface="Calibri"/>
                <a:ea typeface="Calibri"/>
                <a:cs typeface="Calibri"/>
              </a:rPr>
              <a:t>partners</a:t>
            </a:r>
            <a:r>
              <a:rPr lang="es-ES" sz="1850">
                <a:latin typeface="Calibri"/>
                <a:ea typeface="Calibri"/>
                <a:cs typeface="Calibri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850">
              <a:latin typeface="Calibri"/>
              <a:ea typeface="Calibri"/>
              <a:cs typeface="Calibri"/>
            </a:endParaRPr>
          </a:p>
          <a:p>
            <a:r>
              <a:rPr lang="es-ES" sz="1850" b="1" err="1">
                <a:latin typeface="Calibri"/>
                <a:ea typeface="Calibri"/>
                <a:cs typeface="Calibri"/>
              </a:rPr>
              <a:t>Post-servicio</a:t>
            </a:r>
            <a:r>
              <a:rPr lang="es-ES" sz="1850" b="1">
                <a:latin typeface="Calibri"/>
                <a:ea typeface="Calibri"/>
                <a:cs typeface="Calibri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1850" err="1">
                <a:latin typeface="Calibri"/>
                <a:ea typeface="Calibri"/>
                <a:cs typeface="Calibri"/>
              </a:rPr>
              <a:t>Help</a:t>
            </a:r>
            <a:r>
              <a:rPr lang="es-ES" sz="1850">
                <a:latin typeface="Calibri"/>
                <a:ea typeface="Calibri"/>
                <a:cs typeface="Calibri"/>
              </a:rPr>
              <a:t> Care: soporte diario y proactivo.</a:t>
            </a:r>
          </a:p>
          <a:p>
            <a:pPr lvl="1"/>
            <a:endParaRPr lang="es-ES" sz="1850">
              <a:latin typeface="Calibri"/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1850" err="1">
                <a:latin typeface="Calibri"/>
                <a:ea typeface="Calibri"/>
                <a:cs typeface="Calibri"/>
              </a:rPr>
              <a:t>Customer</a:t>
            </a:r>
            <a:r>
              <a:rPr lang="es-ES" sz="1850">
                <a:latin typeface="Calibri"/>
                <a:ea typeface="Calibri"/>
                <a:cs typeface="Calibri"/>
              </a:rPr>
              <a:t> </a:t>
            </a:r>
            <a:r>
              <a:rPr lang="es-ES" sz="1850" err="1">
                <a:latin typeface="Calibri"/>
                <a:ea typeface="Calibri"/>
                <a:cs typeface="Calibri"/>
              </a:rPr>
              <a:t>Experience</a:t>
            </a:r>
            <a:r>
              <a:rPr lang="es-ES" sz="1850">
                <a:latin typeface="Calibri"/>
                <a:ea typeface="Calibri"/>
                <a:cs typeface="Calibri"/>
              </a:rPr>
              <a:t> </a:t>
            </a:r>
            <a:r>
              <a:rPr lang="es-ES" sz="1850" err="1">
                <a:latin typeface="Calibri"/>
                <a:ea typeface="Calibri"/>
                <a:cs typeface="Calibri"/>
              </a:rPr>
              <a:t>Lab</a:t>
            </a:r>
            <a:r>
              <a:rPr lang="es-ES" sz="1850">
                <a:latin typeface="Calibri"/>
                <a:ea typeface="Calibri"/>
                <a:cs typeface="Calibri"/>
              </a:rPr>
              <a:t>: mide la satisfacción global de los clientes.</a:t>
            </a:r>
          </a:p>
          <a:p>
            <a:endParaRPr lang="es-ES" sz="1998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FCF45BB-E8D5-531E-7A10-628B2071C33F}"/>
              </a:ext>
            </a:extLst>
          </p:cNvPr>
          <p:cNvSpPr txBox="1"/>
          <p:nvPr/>
        </p:nvSpPr>
        <p:spPr>
          <a:xfrm>
            <a:off x="3730243" y="2617099"/>
            <a:ext cx="2870088" cy="13177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850" b="1">
                <a:latin typeface="Calibri"/>
                <a:ea typeface="Calibri"/>
                <a:cs typeface="Calibri"/>
              </a:rPr>
              <a:t>Digitales</a:t>
            </a:r>
            <a:r>
              <a:rPr lang="es-ES" sz="1850">
                <a:latin typeface="Calibri"/>
                <a:ea typeface="Calibri"/>
                <a:cs typeface="Calibri"/>
              </a:rPr>
              <a:t>: sitio web, redes sociales, email y </a:t>
            </a:r>
            <a:r>
              <a:rPr lang="es-ES" sz="1850" err="1">
                <a:latin typeface="Calibri"/>
                <a:ea typeface="Calibri"/>
                <a:cs typeface="Calibri"/>
              </a:rPr>
              <a:t>webinars</a:t>
            </a:r>
            <a:r>
              <a:rPr lang="es-ES" sz="1850">
                <a:latin typeface="Calibri"/>
                <a:ea typeface="Calibri"/>
                <a:cs typeface="Calibri"/>
              </a:rPr>
              <a:t>.</a:t>
            </a:r>
          </a:p>
          <a:p>
            <a:endParaRPr lang="es-ES" sz="1865"/>
          </a:p>
          <a:p>
            <a:endParaRPr lang="es-CO" sz="2398"/>
          </a:p>
        </p:txBody>
      </p: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01CFB0C4-E2C3-8604-E37E-7BF1B87824E4}"/>
              </a:ext>
            </a:extLst>
          </p:cNvPr>
          <p:cNvCxnSpPr>
            <a:cxnSpLocks/>
          </p:cNvCxnSpPr>
          <p:nvPr/>
        </p:nvCxnSpPr>
        <p:spPr>
          <a:xfrm flipH="1">
            <a:off x="6618944" y="3382531"/>
            <a:ext cx="55015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2" name="CuadroTexto 1031">
            <a:extLst>
              <a:ext uri="{FF2B5EF4-FFF2-40B4-BE49-F238E27FC236}">
                <a16:creationId xmlns:a16="http://schemas.microsoft.com/office/drawing/2014/main" id="{4805E920-888E-2742-2CCB-15709926EFBD}"/>
              </a:ext>
            </a:extLst>
          </p:cNvPr>
          <p:cNvSpPr txBox="1"/>
          <p:nvPr/>
        </p:nvSpPr>
        <p:spPr>
          <a:xfrm>
            <a:off x="7454996" y="3392490"/>
            <a:ext cx="411531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s-CO" sz="20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egmentos</a:t>
            </a:r>
            <a:r>
              <a:rPr lang="es-CO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mercado</a:t>
            </a:r>
          </a:p>
        </p:txBody>
      </p:sp>
      <p:pic>
        <p:nvPicPr>
          <p:cNvPr id="1033" name="Picture 9" descr="Segmento - Iconos gratis de personas">
            <a:extLst>
              <a:ext uri="{FF2B5EF4-FFF2-40B4-BE49-F238E27FC236}">
                <a16:creationId xmlns:a16="http://schemas.microsoft.com/office/drawing/2014/main" id="{32DA6352-4C48-7D38-9BCF-200330C1C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4889" b="95111" l="4889" r="93778">
                        <a14:foregroundMark x1="5333" y1="41333" x2="5333" y2="41333"/>
                        <a14:foregroundMark x1="34667" y1="7556" x2="34667" y2="7556"/>
                        <a14:foregroundMark x1="51111" y1="5333" x2="51111" y2="5333"/>
                        <a14:foregroundMark x1="94222" y1="41778" x2="94222" y2="41778"/>
                        <a14:foregroundMark x1="63556" y1="92889" x2="63556" y2="92889"/>
                        <a14:foregroundMark x1="44000" y1="95111" x2="44000" y2="95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124" y="3444536"/>
            <a:ext cx="801799" cy="80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CuadroTexto 1033">
            <a:extLst>
              <a:ext uri="{FF2B5EF4-FFF2-40B4-BE49-F238E27FC236}">
                <a16:creationId xmlns:a16="http://schemas.microsoft.com/office/drawing/2014/main" id="{FC6E56B7-60CE-2659-6234-BE98003598F0}"/>
              </a:ext>
            </a:extLst>
          </p:cNvPr>
          <p:cNvSpPr txBox="1"/>
          <p:nvPr/>
        </p:nvSpPr>
        <p:spPr>
          <a:xfrm>
            <a:off x="7600296" y="1605965"/>
            <a:ext cx="4586063" cy="1322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850">
                <a:latin typeface="Calibri"/>
                <a:ea typeface="+mn-lt"/>
                <a:cs typeface="+mn-lt"/>
              </a:rPr>
              <a:t>Relación B2B de largo plazo, basada en células de trabajo especializadas: software </a:t>
            </a:r>
            <a:r>
              <a:rPr lang="es-ES" sz="1850" err="1">
                <a:latin typeface="Calibri"/>
                <a:ea typeface="+mn-lt"/>
                <a:cs typeface="+mn-lt"/>
              </a:rPr>
              <a:t>factory</a:t>
            </a:r>
            <a:r>
              <a:rPr lang="es-ES" sz="1850">
                <a:latin typeface="Calibri"/>
                <a:ea typeface="+mn-lt"/>
                <a:cs typeface="+mn-lt"/>
              </a:rPr>
              <a:t>, </a:t>
            </a:r>
            <a:r>
              <a:rPr lang="es-ES" sz="1850" err="1">
                <a:latin typeface="Calibri"/>
                <a:ea typeface="+mn-lt"/>
                <a:cs typeface="+mn-lt"/>
              </a:rPr>
              <a:t>testing</a:t>
            </a:r>
            <a:r>
              <a:rPr lang="es-ES" sz="1850">
                <a:latin typeface="Calibri"/>
                <a:ea typeface="+mn-lt"/>
                <a:cs typeface="+mn-lt"/>
              </a:rPr>
              <a:t> </a:t>
            </a:r>
            <a:r>
              <a:rPr lang="es-ES" sz="1850" err="1">
                <a:latin typeface="Calibri"/>
                <a:ea typeface="+mn-lt"/>
                <a:cs typeface="+mn-lt"/>
              </a:rPr>
              <a:t>factory</a:t>
            </a:r>
            <a:r>
              <a:rPr lang="es-ES" sz="1850">
                <a:latin typeface="Calibri"/>
                <a:ea typeface="+mn-lt"/>
                <a:cs typeface="+mn-lt"/>
              </a:rPr>
              <a:t> y </a:t>
            </a:r>
            <a:r>
              <a:rPr lang="es-ES" sz="1850" err="1">
                <a:latin typeface="Calibri"/>
                <a:ea typeface="+mn-lt"/>
                <a:cs typeface="+mn-lt"/>
              </a:rPr>
              <a:t>consulting</a:t>
            </a:r>
            <a:r>
              <a:rPr lang="es-ES" sz="1850">
                <a:latin typeface="Calibri"/>
                <a:ea typeface="+mn-lt"/>
                <a:cs typeface="+mn-lt"/>
              </a:rPr>
              <a:t>.</a:t>
            </a:r>
          </a:p>
          <a:p>
            <a:endParaRPr lang="es-CO" sz="2398"/>
          </a:p>
        </p:txBody>
      </p:sp>
      <p:sp>
        <p:nvSpPr>
          <p:cNvPr id="1037" name="CuadroTexto 1036">
            <a:extLst>
              <a:ext uri="{FF2B5EF4-FFF2-40B4-BE49-F238E27FC236}">
                <a16:creationId xmlns:a16="http://schemas.microsoft.com/office/drawing/2014/main" id="{A1E68491-FEDE-3014-EC09-454DA4549379}"/>
              </a:ext>
            </a:extLst>
          </p:cNvPr>
          <p:cNvSpPr txBox="1"/>
          <p:nvPr/>
        </p:nvSpPr>
        <p:spPr>
          <a:xfrm>
            <a:off x="6661502" y="4510500"/>
            <a:ext cx="5458945" cy="666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865"/>
          </a:p>
          <a:p>
            <a:endParaRPr lang="es-CO" sz="1865"/>
          </a:p>
        </p:txBody>
      </p: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24394B5C-BD49-85A1-46D4-0ED375B4B1FC}"/>
              </a:ext>
            </a:extLst>
          </p:cNvPr>
          <p:cNvSpPr txBox="1"/>
          <p:nvPr/>
        </p:nvSpPr>
        <p:spPr>
          <a:xfrm>
            <a:off x="7367594" y="3862265"/>
            <a:ext cx="4923348" cy="1035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850">
                <a:latin typeface="Calibri"/>
                <a:ea typeface="Calibri"/>
                <a:cs typeface="Calibri"/>
              </a:rPr>
              <a:t>Empresas referentes de mercado, en su mayoría con operaciones en Latinoamérica.</a:t>
            </a:r>
          </a:p>
          <a:p>
            <a:endParaRPr lang="es-CO" sz="2398"/>
          </a:p>
        </p:txBody>
      </p:sp>
      <p:sp>
        <p:nvSpPr>
          <p:cNvPr id="1040" name="CuadroTexto 1039">
            <a:extLst>
              <a:ext uri="{FF2B5EF4-FFF2-40B4-BE49-F238E27FC236}">
                <a16:creationId xmlns:a16="http://schemas.microsoft.com/office/drawing/2014/main" id="{11D8BE32-D294-CFBD-3694-8B89DEE6A89E}"/>
              </a:ext>
            </a:extLst>
          </p:cNvPr>
          <p:cNvSpPr txBox="1"/>
          <p:nvPr/>
        </p:nvSpPr>
        <p:spPr>
          <a:xfrm>
            <a:off x="6549697" y="4293291"/>
            <a:ext cx="5679411" cy="24565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s-ES" sz="1865" b="1"/>
          </a:p>
          <a:p>
            <a:r>
              <a:rPr lang="es-ES" sz="1850" b="1">
                <a:latin typeface="Calibri"/>
                <a:ea typeface="Calibri"/>
                <a:cs typeface="Calibri"/>
              </a:rPr>
              <a:t>Sectores: </a:t>
            </a:r>
            <a:r>
              <a:rPr lang="es-ES" sz="1850">
                <a:latin typeface="Calibri"/>
                <a:ea typeface="Calibri"/>
                <a:cs typeface="Calibri"/>
              </a:rPr>
              <a:t>financiero, asegurador/AFP, logístico, </a:t>
            </a:r>
            <a:r>
              <a:rPr lang="es-ES" sz="1850" err="1">
                <a:latin typeface="Calibri"/>
                <a:ea typeface="Calibri"/>
                <a:cs typeface="Calibri"/>
              </a:rPr>
              <a:t>retail</a:t>
            </a:r>
            <a:r>
              <a:rPr lang="es-ES" sz="1850">
                <a:latin typeface="Calibri"/>
                <a:ea typeface="Calibri"/>
                <a:cs typeface="Calibri"/>
              </a:rPr>
              <a:t>, salud, educación, petróleo y gas, entre otros.</a:t>
            </a:r>
          </a:p>
          <a:p>
            <a:endParaRPr lang="es-ES" sz="1850">
              <a:latin typeface="Calibri"/>
              <a:ea typeface="Calibri"/>
              <a:cs typeface="Calibri"/>
            </a:endParaRPr>
          </a:p>
          <a:p>
            <a:r>
              <a:rPr lang="es-ES" sz="1850">
                <a:latin typeface="Calibri"/>
                <a:ea typeface="Calibri"/>
                <a:cs typeface="Calibri"/>
              </a:rPr>
              <a:t>Clientes con altos presupuestos de TI y áreas tecnológicas consolidadas, que buscan proveedores innovadores, con experiencia comprobada.</a:t>
            </a:r>
            <a:endParaRPr lang="es-CO" sz="1850">
              <a:latin typeface="Calibri"/>
              <a:ea typeface="Calibri"/>
              <a:cs typeface="Calibri"/>
            </a:endParaRPr>
          </a:p>
          <a:p>
            <a:endParaRPr lang="es-CO" sz="2398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B28E6C-FC08-F890-318D-1A728EBB40A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4810" b="37632"/>
          <a:stretch>
            <a:fillRect/>
          </a:stretch>
        </p:blipFill>
        <p:spPr>
          <a:xfrm>
            <a:off x="9753599" y="6243401"/>
            <a:ext cx="2257425" cy="62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8EA8-F834-523F-5D61-EA88B106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88857305-E850-7E9F-DF12-7E0F3EAE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475" y="3172"/>
            <a:ext cx="12169439" cy="68548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7A9E0F5-702D-D954-D87A-7DA61416C425}"/>
              </a:ext>
            </a:extLst>
          </p:cNvPr>
          <p:cNvSpPr txBox="1"/>
          <p:nvPr/>
        </p:nvSpPr>
        <p:spPr>
          <a:xfrm>
            <a:off x="2388551" y="638966"/>
            <a:ext cx="7361983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2000" b="1">
                <a:solidFill>
                  <a:srgbClr val="333333"/>
                </a:solidFill>
              </a:rPr>
              <a:t>Objetivo: </a:t>
            </a:r>
            <a:r>
              <a:rPr lang="es-CO" sz="2000">
                <a:solidFill>
                  <a:srgbClr val="333333"/>
                </a:solidFill>
              </a:rPr>
              <a:t>atraer y posicionar la marca en el mercado </a:t>
            </a:r>
          </a:p>
        </p:txBody>
      </p:sp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E181BD-67D4-FAC9-F8E4-E5AA70686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733" y="6263263"/>
            <a:ext cx="1459149" cy="29183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D794811-66AB-C2B5-BC60-24882246A830}"/>
              </a:ext>
            </a:extLst>
          </p:cNvPr>
          <p:cNvSpPr txBox="1">
            <a:spLocks/>
          </p:cNvSpPr>
          <p:nvPr/>
        </p:nvSpPr>
        <p:spPr>
          <a:xfrm>
            <a:off x="3908852" y="84212"/>
            <a:ext cx="4335756" cy="641017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97"/>
              </a:lnSpc>
              <a:buNone/>
            </a:pPr>
            <a:r>
              <a:rPr lang="es-CO" sz="36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Canales de Mercadeo </a:t>
            </a:r>
          </a:p>
        </p:txBody>
      </p:sp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3F1D5E8-93DA-28E3-FCFB-25355193F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201110"/>
            <a:ext cx="1172394" cy="301980"/>
          </a:xfrm>
          <a:prstGeom prst="rect">
            <a:avLst/>
          </a:prstGeom>
        </p:spPr>
      </p:pic>
      <p:sp>
        <p:nvSpPr>
          <p:cNvPr id="6" name="CuadroTexto 3">
            <a:extLst>
              <a:ext uri="{FF2B5EF4-FFF2-40B4-BE49-F238E27FC236}">
                <a16:creationId xmlns:a16="http://schemas.microsoft.com/office/drawing/2014/main" id="{ED775BEC-ACCC-E7B1-9D98-D4B60CC27AA5}"/>
              </a:ext>
            </a:extLst>
          </p:cNvPr>
          <p:cNvSpPr txBox="1"/>
          <p:nvPr/>
        </p:nvSpPr>
        <p:spPr>
          <a:xfrm>
            <a:off x="618652" y="1124508"/>
            <a:ext cx="4903456" cy="49988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Redes Sociales (Marketing Digital)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Plataformas: LinkedIn, Facebook, Instagram y Google.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Estrategias: SEO (orgánico), SEM (pagado), contenidos en podcast,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reels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,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webinars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Beneficios: alta visibilidad, generación de leads, fortalecimiento de marca empleadora.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Métrica clave: alcance, interacción y leads medidos por el área de marketing +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Customer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Experience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Lab</a:t>
            </a:r>
            <a:endParaRPr lang="es-CO"/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DE594C76-A442-5F03-D8F3-3040824ED373}"/>
              </a:ext>
            </a:extLst>
          </p:cNvPr>
          <p:cNvSpPr txBox="1"/>
          <p:nvPr/>
        </p:nvSpPr>
        <p:spPr>
          <a:xfrm>
            <a:off x="6385454" y="1717267"/>
            <a:ext cx="4903456" cy="797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12" name="CuadroTexto 3">
            <a:extLst>
              <a:ext uri="{FF2B5EF4-FFF2-40B4-BE49-F238E27FC236}">
                <a16:creationId xmlns:a16="http://schemas.microsoft.com/office/drawing/2014/main" id="{DD22846D-BA26-ED09-7CEB-972579C1F565}"/>
              </a:ext>
            </a:extLst>
          </p:cNvPr>
          <p:cNvSpPr txBox="1"/>
          <p:nvPr/>
        </p:nvSpPr>
        <p:spPr>
          <a:xfrm>
            <a:off x="6385455" y="1124508"/>
            <a:ext cx="4903456" cy="40985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Voz a Voz (Referidos)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Clientes actuales recomiendan a Periferia a otras empresas.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Se basa en la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confianza y la reputación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No implica costo directo, el “pago” es la calidad del servicio prestado.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Impacto medido de forma indirecta → encuestas de satisfacción y disposición a recomendar.</a:t>
            </a:r>
            <a:endParaRPr lang="es-CO"/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B21AB9-C175-3B2A-1F58-AA7AE3C441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920B9D1-A728-7C35-0300-C3D2B7ABC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3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DAF03-2083-4170-F934-39D90A76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D86A3998-267C-4E70-CAF1-EAEC1EDFB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475" y="3172"/>
            <a:ext cx="12169439" cy="68548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53C2953-07A0-8D6F-C88F-727C28FB15AC}"/>
              </a:ext>
            </a:extLst>
          </p:cNvPr>
          <p:cNvSpPr txBox="1"/>
          <p:nvPr/>
        </p:nvSpPr>
        <p:spPr>
          <a:xfrm>
            <a:off x="1813457" y="825871"/>
            <a:ext cx="874220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2000" b="1">
                <a:solidFill>
                  <a:srgbClr val="333333"/>
                </a:solidFill>
              </a:rPr>
              <a:t>Objetivo: </a:t>
            </a:r>
            <a:r>
              <a:rPr lang="es-CO" sz="2000">
                <a:solidFill>
                  <a:srgbClr val="333333"/>
                </a:solidFill>
                <a:ea typeface="+mn-lt"/>
                <a:cs typeface="+mn-lt"/>
              </a:rPr>
              <a:t>concretar negocios y mantener relaciones de largo plazo.</a:t>
            </a:r>
            <a:endParaRPr lang="es-CO" sz="2000">
              <a:solidFill>
                <a:srgbClr val="333333"/>
              </a:solidFill>
            </a:endParaRPr>
          </a:p>
        </p:txBody>
      </p:sp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407600B-7ABF-D2B5-1117-7BEC1BDE6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733" y="6263263"/>
            <a:ext cx="1459149" cy="29183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06ECD5-C87F-FF25-1AB1-62F55A958907}"/>
              </a:ext>
            </a:extLst>
          </p:cNvPr>
          <p:cNvSpPr txBox="1">
            <a:spLocks/>
          </p:cNvSpPr>
          <p:nvPr/>
        </p:nvSpPr>
        <p:spPr>
          <a:xfrm>
            <a:off x="3908852" y="199231"/>
            <a:ext cx="4335756" cy="641017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97"/>
              </a:lnSpc>
              <a:buNone/>
            </a:pPr>
            <a:r>
              <a:rPr lang="es-CO" sz="36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Canales de Venta</a:t>
            </a:r>
          </a:p>
        </p:txBody>
      </p:sp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5C4DB36-6AF7-9DB7-A844-21A4D405B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201110"/>
            <a:ext cx="1172394" cy="301980"/>
          </a:xfrm>
          <a:prstGeom prst="rect">
            <a:avLst/>
          </a:prstGeom>
        </p:spPr>
      </p:pic>
      <p:sp>
        <p:nvSpPr>
          <p:cNvPr id="6" name="CuadroTexto 3">
            <a:extLst>
              <a:ext uri="{FF2B5EF4-FFF2-40B4-BE49-F238E27FC236}">
                <a16:creationId xmlns:a16="http://schemas.microsoft.com/office/drawing/2014/main" id="{F555CA0B-6DDF-F868-E344-CDAE049EC37C}"/>
              </a:ext>
            </a:extLst>
          </p:cNvPr>
          <p:cNvSpPr txBox="1"/>
          <p:nvPr/>
        </p:nvSpPr>
        <p:spPr>
          <a:xfrm>
            <a:off x="591379" y="1717268"/>
            <a:ext cx="4903456" cy="46987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 u="sng">
                <a:solidFill>
                  <a:srgbClr val="333333"/>
                </a:solidFill>
                <a:ea typeface="+mn-lt"/>
                <a:cs typeface="+mn-lt"/>
              </a:rPr>
              <a:t>Hunters (Cazadores)</a:t>
            </a:r>
            <a:endParaRPr lang="en-US" u="sng"/>
          </a:p>
          <a:p>
            <a:pPr algn="ctr"/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Ejecutivos comerciales que buscan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nuevos clientes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Impacto: representan el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35% de las ventas totales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Rol clave: expansión y apertura de nuevos mercados.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Métricas: número de nuevos clientes y oportunidades cerradas.</a:t>
            </a:r>
            <a:endParaRPr lang="es-CO"/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E4839695-BD93-8A7E-3865-517289BC76CD}"/>
              </a:ext>
            </a:extLst>
          </p:cNvPr>
          <p:cNvSpPr txBox="1"/>
          <p:nvPr/>
        </p:nvSpPr>
        <p:spPr>
          <a:xfrm>
            <a:off x="6385454" y="1717267"/>
            <a:ext cx="4903456" cy="797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12" name="CuadroTexto 3">
            <a:extLst>
              <a:ext uri="{FF2B5EF4-FFF2-40B4-BE49-F238E27FC236}">
                <a16:creationId xmlns:a16="http://schemas.microsoft.com/office/drawing/2014/main" id="{4212B6E5-F506-14D1-A9C9-10E5888188CD}"/>
              </a:ext>
            </a:extLst>
          </p:cNvPr>
          <p:cNvSpPr txBox="1"/>
          <p:nvPr/>
        </p:nvSpPr>
        <p:spPr>
          <a:xfrm>
            <a:off x="6112284" y="1717267"/>
            <a:ext cx="4903456" cy="5298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 u="sng" err="1">
                <a:solidFill>
                  <a:srgbClr val="333333"/>
                </a:solidFill>
                <a:ea typeface="+mn-lt"/>
                <a:cs typeface="+mn-lt"/>
              </a:rPr>
              <a:t>Farmers</a:t>
            </a:r>
            <a:r>
              <a:rPr lang="es-CO" sz="1950" b="1" u="sng">
                <a:solidFill>
                  <a:srgbClr val="333333"/>
                </a:solidFill>
                <a:ea typeface="+mn-lt"/>
                <a:cs typeface="+mn-lt"/>
              </a:rPr>
              <a:t> (Mantenedores)</a:t>
            </a:r>
            <a:endParaRPr lang="en-US" u="sng"/>
          </a:p>
          <a:p>
            <a:pPr algn="ctr"/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Account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managers que cuidan y hacen crecer las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cuentas actuales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Impacto: generan el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65% de las ventas totales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Rol clave: fidelización, up-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selling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y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cross-selling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Métricas: retención, satisfacción de clientes y ventas adicionales en cuentas existentes.</a:t>
            </a:r>
            <a:endParaRPr lang="es-CO"/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281ECE-D5D2-E590-C180-341BEC33D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E8010EB-3855-D6CC-6A02-388D89B72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6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EB83-F1D6-1B67-96D0-813550DD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4BB093EE-1BA1-067D-32AB-EF24592B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475" y="3172"/>
            <a:ext cx="12169439" cy="68548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3BC0421-858B-A72C-B55D-57731DF165E1}"/>
              </a:ext>
            </a:extLst>
          </p:cNvPr>
          <p:cNvSpPr txBox="1"/>
          <p:nvPr/>
        </p:nvSpPr>
        <p:spPr>
          <a:xfrm>
            <a:off x="1813457" y="825871"/>
            <a:ext cx="874220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2000" b="1">
                <a:solidFill>
                  <a:srgbClr val="333333"/>
                </a:solidFill>
              </a:rPr>
              <a:t>Objetivo: </a:t>
            </a:r>
            <a:r>
              <a:rPr lang="es-CO" sz="2000">
                <a:solidFill>
                  <a:srgbClr val="333333"/>
                </a:solidFill>
                <a:ea typeface="+mn-lt"/>
                <a:cs typeface="+mn-lt"/>
              </a:rPr>
              <a:t>garantizar continuidad, soporte y satisfacción.</a:t>
            </a:r>
            <a:endParaRPr lang="es-CO" sz="2000">
              <a:solidFill>
                <a:srgbClr val="333333"/>
              </a:solidFill>
            </a:endParaRPr>
          </a:p>
        </p:txBody>
      </p:sp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794C2F-D3F2-723C-2518-9D2F00374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733" y="6263263"/>
            <a:ext cx="1459149" cy="29183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365F7BC-E24E-04E5-9755-86B23AFD1E18}"/>
              </a:ext>
            </a:extLst>
          </p:cNvPr>
          <p:cNvSpPr txBox="1">
            <a:spLocks/>
          </p:cNvSpPr>
          <p:nvPr/>
        </p:nvSpPr>
        <p:spPr>
          <a:xfrm>
            <a:off x="3060588" y="199231"/>
            <a:ext cx="6118548" cy="741658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97"/>
              </a:lnSpc>
              <a:buNone/>
            </a:pPr>
            <a:r>
              <a:rPr lang="es-CO" sz="36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Canales de Post-Servicio </a:t>
            </a:r>
          </a:p>
        </p:txBody>
      </p:sp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8E798C2-6D2F-3568-9778-44C02A356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201110"/>
            <a:ext cx="1172394" cy="301980"/>
          </a:xfrm>
          <a:prstGeom prst="rect">
            <a:avLst/>
          </a:prstGeom>
        </p:spPr>
      </p:pic>
      <p:sp>
        <p:nvSpPr>
          <p:cNvPr id="6" name="CuadroTexto 3">
            <a:extLst>
              <a:ext uri="{FF2B5EF4-FFF2-40B4-BE49-F238E27FC236}">
                <a16:creationId xmlns:a16="http://schemas.microsoft.com/office/drawing/2014/main" id="{A7255D9A-9EC1-66F3-6FEE-BDDC386AD680}"/>
              </a:ext>
            </a:extLst>
          </p:cNvPr>
          <p:cNvSpPr txBox="1"/>
          <p:nvPr/>
        </p:nvSpPr>
        <p:spPr>
          <a:xfrm>
            <a:off x="591379" y="1717268"/>
            <a:ext cx="4903456" cy="439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 u="sng" err="1">
                <a:solidFill>
                  <a:srgbClr val="333333"/>
                </a:solidFill>
                <a:ea typeface="+mn-lt"/>
                <a:cs typeface="+mn-lt"/>
              </a:rPr>
              <a:t>Help</a:t>
            </a:r>
            <a:r>
              <a:rPr lang="es-CO" sz="1950" b="1" u="sng">
                <a:solidFill>
                  <a:srgbClr val="333333"/>
                </a:solidFill>
                <a:ea typeface="+mn-lt"/>
                <a:cs typeface="+mn-lt"/>
              </a:rPr>
              <a:t> Care</a:t>
            </a:r>
            <a:endParaRPr lang="en-US" u="sng"/>
          </a:p>
          <a:p>
            <a:pPr algn="ctr"/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Soporte diario y proactivo a equipos desplegados en clientes.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Evita interrupciones y asegura la continuidad operativa.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Métricas: número de incidentes resueltos, tiempo de respuesta, satisfacción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post-soporte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.</a:t>
            </a:r>
            <a:endParaRPr lang="es-CO"/>
          </a:p>
          <a:p>
            <a:pPr algn="ctr"/>
            <a:endParaRPr lang="es-CO" sz="1950" b="1" u="sng">
              <a:solidFill>
                <a:srgbClr val="333333"/>
              </a:solidFill>
            </a:endParaRPr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054257A4-4AEF-8554-67E5-7B2F550A4635}"/>
              </a:ext>
            </a:extLst>
          </p:cNvPr>
          <p:cNvSpPr txBox="1"/>
          <p:nvPr/>
        </p:nvSpPr>
        <p:spPr>
          <a:xfrm>
            <a:off x="6385454" y="1717267"/>
            <a:ext cx="4903456" cy="797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sp>
        <p:nvSpPr>
          <p:cNvPr id="12" name="CuadroTexto 3">
            <a:extLst>
              <a:ext uri="{FF2B5EF4-FFF2-40B4-BE49-F238E27FC236}">
                <a16:creationId xmlns:a16="http://schemas.microsoft.com/office/drawing/2014/main" id="{E66EEF6D-4E4E-FE86-A2C6-A52A296BF6C8}"/>
              </a:ext>
            </a:extLst>
          </p:cNvPr>
          <p:cNvSpPr txBox="1"/>
          <p:nvPr/>
        </p:nvSpPr>
        <p:spPr>
          <a:xfrm>
            <a:off x="6112284" y="1717267"/>
            <a:ext cx="4903456" cy="58990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b="1" u="sng" err="1">
                <a:solidFill>
                  <a:srgbClr val="333333"/>
                </a:solidFill>
                <a:ea typeface="+mn-lt"/>
                <a:cs typeface="+mn-lt"/>
              </a:rPr>
              <a:t>Customer</a:t>
            </a:r>
            <a:r>
              <a:rPr lang="es-CO" sz="1950" b="1" u="sng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b="1" u="sng" err="1">
                <a:solidFill>
                  <a:srgbClr val="333333"/>
                </a:solidFill>
                <a:ea typeface="+mn-lt"/>
                <a:cs typeface="+mn-lt"/>
              </a:rPr>
              <a:t>Experience</a:t>
            </a:r>
            <a:r>
              <a:rPr lang="es-CO" sz="1950" b="1" u="sng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b="1" u="sng" err="1">
                <a:solidFill>
                  <a:srgbClr val="333333"/>
                </a:solidFill>
                <a:ea typeface="+mn-lt"/>
                <a:cs typeface="+mn-lt"/>
              </a:rPr>
              <a:t>Lab</a:t>
            </a:r>
            <a:endParaRPr lang="en-US" u="sng" err="1"/>
          </a:p>
          <a:p>
            <a:pPr algn="ctr"/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Evalúa integralmente la experiencia del cliente mediante encuestas y análisis.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Genera estadísticas sobre satisfacción, quejas y sugerencias.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Importancia: retroalimenta a la organización para mejorar procesos y fidelizar.</a:t>
            </a:r>
            <a:endParaRPr lang="es-CO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Métrica principal: satisfacción global de clientes (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92% en Q2 2025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)</a:t>
            </a:r>
            <a:endParaRPr lang="es-CO"/>
          </a:p>
          <a:p>
            <a:pPr algn="ctr"/>
            <a:endParaRPr lang="es-CO" sz="1950" b="1" u="sng">
              <a:solidFill>
                <a:srgbClr val="333333"/>
              </a:solidFill>
            </a:endParaRPr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endParaRPr lang="es-CO" sz="1950" b="1">
              <a:solidFill>
                <a:srgbClr val="333333"/>
              </a:solidFill>
            </a:endParaRPr>
          </a:p>
          <a:p>
            <a:pPr algn="ctr">
              <a:spcBef>
                <a:spcPts val="999"/>
              </a:spcBef>
            </a:pP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4CEDC5-305B-F42F-9412-1A63CCE69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0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01D2-3D07-7F99-7CC0-FC79B762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92EDD036-E345-3562-C233-35EEE031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475" y="3172"/>
            <a:ext cx="12169439" cy="68548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6EE9B9-2CDF-9F00-C73F-DB42FB9A5C32}"/>
              </a:ext>
            </a:extLst>
          </p:cNvPr>
          <p:cNvSpPr txBox="1"/>
          <p:nvPr/>
        </p:nvSpPr>
        <p:spPr>
          <a:xfrm>
            <a:off x="807041" y="2579909"/>
            <a:ext cx="240179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Nivel de satisfacción general: </a:t>
            </a:r>
            <a:r>
              <a:rPr lang="es-CO" sz="1950" b="1">
                <a:solidFill>
                  <a:srgbClr val="333333"/>
                </a:solidFill>
                <a:ea typeface="+mn-lt"/>
                <a:cs typeface="+mn-lt"/>
              </a:rPr>
              <a:t>92%</a:t>
            </a:r>
            <a:endParaRPr lang="en-US"/>
          </a:p>
        </p:txBody>
      </p:sp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3979281-DBED-81BF-2CF6-FFAE88ED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733" y="6263263"/>
            <a:ext cx="1459149" cy="29183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6C876B2B-BCCF-B8A6-4CE5-2996E00A6794}"/>
              </a:ext>
            </a:extLst>
          </p:cNvPr>
          <p:cNvSpPr txBox="1">
            <a:spLocks/>
          </p:cNvSpPr>
          <p:nvPr/>
        </p:nvSpPr>
        <p:spPr>
          <a:xfrm>
            <a:off x="3836965" y="357382"/>
            <a:ext cx="4335756" cy="641017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97"/>
              </a:lnSpc>
              <a:buNone/>
            </a:pPr>
            <a:r>
              <a:rPr lang="es-CO" sz="29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Métricas Clave </a:t>
            </a:r>
          </a:p>
        </p:txBody>
      </p:sp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CC0AA6-970D-B972-BE77-EBBB07F03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201110"/>
            <a:ext cx="1172394" cy="301980"/>
          </a:xfrm>
          <a:prstGeom prst="rect">
            <a:avLst/>
          </a:prstGeom>
        </p:spPr>
      </p:pic>
      <p:sp>
        <p:nvSpPr>
          <p:cNvPr id="5" name="CuadroTexto 3">
            <a:extLst>
              <a:ext uri="{FF2B5EF4-FFF2-40B4-BE49-F238E27FC236}">
                <a16:creationId xmlns:a16="http://schemas.microsoft.com/office/drawing/2014/main" id="{7EC65DC5-E4F5-DB59-671C-0F1A8FA9083A}"/>
              </a:ext>
            </a:extLst>
          </p:cNvPr>
          <p:cNvSpPr txBox="1"/>
          <p:nvPr/>
        </p:nvSpPr>
        <p:spPr>
          <a:xfrm>
            <a:off x="4803946" y="2579908"/>
            <a:ext cx="2401795" cy="12926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Calidad: 92,2% – Efectividad: 91,4% – Oportunidad: 94,8%.</a:t>
            </a:r>
            <a:endParaRPr lang="en-US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E1C43B98-14FA-576D-347E-78492FC1D107}"/>
              </a:ext>
            </a:extLst>
          </p:cNvPr>
          <p:cNvSpPr txBox="1"/>
          <p:nvPr/>
        </p:nvSpPr>
        <p:spPr>
          <a:xfrm>
            <a:off x="8887116" y="2579908"/>
            <a:ext cx="2401795" cy="20210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Hunters → 35% de las ventas totales.</a:t>
            </a:r>
            <a:endParaRPr lang="en-US"/>
          </a:p>
          <a:p>
            <a:pPr algn="ctr"/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Farmers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→ 65% de las ventas totales</a:t>
            </a:r>
            <a:endParaRPr lang="es-CO"/>
          </a:p>
          <a:p>
            <a:pPr algn="ctr">
              <a:spcBef>
                <a:spcPts val="999"/>
              </a:spcBef>
            </a:pPr>
            <a:endParaRPr lang="es-CO" sz="1950" b="1">
              <a:solidFill>
                <a:srgbClr val="333333"/>
              </a:solidFill>
            </a:endParaRPr>
          </a:p>
        </p:txBody>
      </p:sp>
      <p:pic>
        <p:nvPicPr>
          <p:cNvPr id="11" name="Graphic 10" descr="Badge New with solid fill">
            <a:extLst>
              <a:ext uri="{FF2B5EF4-FFF2-40B4-BE49-F238E27FC236}">
                <a16:creationId xmlns:a16="http://schemas.microsoft.com/office/drawing/2014/main" id="{14D60909-EE38-F5FA-28DF-C3702FD4A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1253" y="1505309"/>
            <a:ext cx="914400" cy="914400"/>
          </a:xfrm>
          <a:prstGeom prst="rect">
            <a:avLst/>
          </a:prstGeom>
        </p:spPr>
      </p:pic>
      <p:pic>
        <p:nvPicPr>
          <p:cNvPr id="13" name="Graphic 12" descr="Bar graph with upward trend with solid fill">
            <a:extLst>
              <a:ext uri="{FF2B5EF4-FFF2-40B4-BE49-F238E27FC236}">
                <a16:creationId xmlns:a16="http://schemas.microsoft.com/office/drawing/2014/main" id="{A140694C-0CC5-6954-C45E-DB597BAF96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8158" y="1505309"/>
            <a:ext cx="914400" cy="914400"/>
          </a:xfrm>
          <a:prstGeom prst="rect">
            <a:avLst/>
          </a:prstGeom>
        </p:spPr>
      </p:pic>
      <p:pic>
        <p:nvPicPr>
          <p:cNvPr id="15" name="Graphic 14" descr="Bee with solid fill">
            <a:extLst>
              <a:ext uri="{FF2B5EF4-FFF2-40B4-BE49-F238E27FC236}">
                <a16:creationId xmlns:a16="http://schemas.microsoft.com/office/drawing/2014/main" id="{29F70185-0875-4336-6389-DB4735A4A4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5706" y="1505309"/>
            <a:ext cx="914400" cy="914400"/>
          </a:xfrm>
          <a:prstGeom prst="rect">
            <a:avLst/>
          </a:prstGeom>
        </p:spPr>
      </p:pic>
      <p:sp>
        <p:nvSpPr>
          <p:cNvPr id="17" name="CuadroTexto 3">
            <a:extLst>
              <a:ext uri="{FF2B5EF4-FFF2-40B4-BE49-F238E27FC236}">
                <a16:creationId xmlns:a16="http://schemas.microsoft.com/office/drawing/2014/main" id="{875E24BC-D4F2-74A5-2BAF-4FC3725E34E9}"/>
              </a:ext>
            </a:extLst>
          </p:cNvPr>
          <p:cNvSpPr txBox="1"/>
          <p:nvPr/>
        </p:nvSpPr>
        <p:spPr>
          <a:xfrm>
            <a:off x="375719" y="4676401"/>
            <a:ext cx="4429003" cy="11208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1950" b="1">
                <a:solidFill>
                  <a:srgbClr val="333333"/>
                </a:solidFill>
              </a:rPr>
              <a:t>Redes Sociales: </a:t>
            </a:r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principales indicadores de alcance, interacción y generación de leads.</a:t>
            </a:r>
            <a:endParaRPr lang="es-CO" sz="1950" b="1">
              <a:solidFill>
                <a:srgbClr val="333333"/>
              </a:solidFill>
            </a:endParaRPr>
          </a:p>
        </p:txBody>
      </p:sp>
      <p:sp>
        <p:nvSpPr>
          <p:cNvPr id="20" name="CuadroTexto 3">
            <a:extLst>
              <a:ext uri="{FF2B5EF4-FFF2-40B4-BE49-F238E27FC236}">
                <a16:creationId xmlns:a16="http://schemas.microsoft.com/office/drawing/2014/main" id="{550FB428-1B11-3F79-BA41-6AE6EA3CA14A}"/>
              </a:ext>
            </a:extLst>
          </p:cNvPr>
          <p:cNvSpPr txBox="1"/>
          <p:nvPr/>
        </p:nvSpPr>
        <p:spPr>
          <a:xfrm>
            <a:off x="6126662" y="4952171"/>
            <a:ext cx="4429003" cy="11208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1950" b="1">
                <a:solidFill>
                  <a:srgbClr val="333333"/>
                </a:solidFill>
              </a:rPr>
              <a:t>Voz a Voz: </a:t>
            </a:r>
            <a:endParaRPr lang="es-CO" sz="1950" b="1">
              <a:solidFill>
                <a:srgbClr val="333333"/>
              </a:solidFill>
              <a:ea typeface="+mn-lt"/>
              <a:cs typeface="+mn-lt"/>
            </a:endParaRPr>
          </a:p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medido con encuestas de satisfacción (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Customer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Experience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Lab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).</a:t>
            </a:r>
            <a:endParaRPr lang="es-CO" sz="1950" b="1">
              <a:solidFill>
                <a:srgbClr val="333333"/>
              </a:solidFill>
            </a:endParaRPr>
          </a:p>
        </p:txBody>
      </p:sp>
      <p:pic>
        <p:nvPicPr>
          <p:cNvPr id="21" name="Graphic 20" descr="Call center with solid fill">
            <a:extLst>
              <a:ext uri="{FF2B5EF4-FFF2-40B4-BE49-F238E27FC236}">
                <a16:creationId xmlns:a16="http://schemas.microsoft.com/office/drawing/2014/main" id="{1B06DA00-F282-2697-2A6B-AC4081A9A5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30724" y="3805004"/>
            <a:ext cx="914400" cy="914400"/>
          </a:xfrm>
          <a:prstGeom prst="rect">
            <a:avLst/>
          </a:prstGeom>
        </p:spPr>
      </p:pic>
      <p:pic>
        <p:nvPicPr>
          <p:cNvPr id="22" name="Graphic 21" descr="Telephone with solid fill">
            <a:extLst>
              <a:ext uri="{FF2B5EF4-FFF2-40B4-BE49-F238E27FC236}">
                <a16:creationId xmlns:a16="http://schemas.microsoft.com/office/drawing/2014/main" id="{CD35F04A-9828-2EA5-1B93-6FFC14E4C3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81668" y="3877574"/>
            <a:ext cx="914400" cy="914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05382A-2A56-90A2-D2CA-4DF3E152870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562581-079F-DC58-BB81-4B2380320F4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7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585073-8948-63CF-B113-C48979D1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">
            <a:extLst>
              <a:ext uri="{FF2B5EF4-FFF2-40B4-BE49-F238E27FC236}">
                <a16:creationId xmlns:a16="http://schemas.microsoft.com/office/drawing/2014/main" id="{76547D0C-6FDD-D51E-BC32-6B544307D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38" y="3172"/>
            <a:ext cx="12186363" cy="6854829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183BD75-D0FD-81F3-A8C8-E566C3769B16}"/>
              </a:ext>
            </a:extLst>
          </p:cNvPr>
          <p:cNvSpPr txBox="1">
            <a:spLocks/>
          </p:cNvSpPr>
          <p:nvPr/>
        </p:nvSpPr>
        <p:spPr>
          <a:xfrm>
            <a:off x="5309995" y="491459"/>
            <a:ext cx="6870926" cy="505269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8072">
              <a:lnSpc>
                <a:spcPts val="3597"/>
              </a:lnSpc>
              <a:spcBef>
                <a:spcPts val="1332"/>
              </a:spcBef>
              <a:buNone/>
              <a:defRPr/>
            </a:pPr>
            <a:r>
              <a:rPr lang="es-CO" sz="4400" b="1" err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Costumer</a:t>
            </a:r>
            <a:r>
              <a:rPr lang="es-CO" sz="44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 </a:t>
            </a:r>
            <a:r>
              <a:rPr lang="es-CO" sz="4400" b="1" err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Journey</a:t>
            </a:r>
            <a:r>
              <a:rPr lang="es-CO" sz="44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 </a:t>
            </a:r>
            <a:r>
              <a:rPr lang="es-CO" sz="4400" b="1" err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Map</a:t>
            </a:r>
            <a:r>
              <a:rPr lang="es-CO" sz="44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-CJM</a:t>
            </a:r>
          </a:p>
        </p:txBody>
      </p:sp>
      <p:pic>
        <p:nvPicPr>
          <p:cNvPr id="7" name="Imagen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2D38CD3-C4BF-E202-40EC-5585F8B8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298" y="6327137"/>
            <a:ext cx="1459149" cy="291830"/>
          </a:xfrm>
          <a:prstGeom prst="rect">
            <a:avLst/>
          </a:prstGeom>
        </p:spPr>
      </p:pic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AC1D046-3B9F-2473-BCAF-A2A12A5D5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6369725"/>
            <a:ext cx="1172394" cy="301980"/>
          </a:xfrm>
          <a:prstGeom prst="rect">
            <a:avLst/>
          </a:prstGeom>
        </p:spPr>
      </p:pic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F75F0FA-100B-455B-2B54-C124F3F02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76" y="1713565"/>
            <a:ext cx="3034305" cy="492164"/>
          </a:xfrm>
        </p:spPr>
        <p:txBody>
          <a:bodyPr vert="horz" lIns="121807" tIns="60904" rIns="121807" bIns="60904" rtlCol="0" anchor="t">
            <a:noAutofit/>
          </a:bodyPr>
          <a:lstStyle/>
          <a:p>
            <a:pPr marL="0" indent="0">
              <a:buNone/>
            </a:pPr>
            <a:r>
              <a:rPr lang="es-CO" sz="3450" b="1">
                <a:solidFill>
                  <a:srgbClr val="21804B"/>
                </a:solidFill>
                <a:latin typeface="Calibri"/>
                <a:ea typeface="Calibri"/>
                <a:cs typeface="Calibri"/>
              </a:rPr>
              <a:t>Mercadeo</a:t>
            </a:r>
          </a:p>
          <a:p>
            <a:pPr marL="0" indent="0">
              <a:buNone/>
            </a:pPr>
            <a:endParaRPr lang="es-CO" sz="3450" b="1">
              <a:solidFill>
                <a:srgbClr val="21804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A3E23C73-18F1-FE45-F36D-EB6BC6D4F0E5}"/>
              </a:ext>
            </a:extLst>
          </p:cNvPr>
          <p:cNvSpPr txBox="1">
            <a:spLocks/>
          </p:cNvSpPr>
          <p:nvPr/>
        </p:nvSpPr>
        <p:spPr>
          <a:xfrm>
            <a:off x="4933378" y="1713565"/>
            <a:ext cx="3034305" cy="492164"/>
          </a:xfrm>
          <a:prstGeom prst="rect">
            <a:avLst/>
          </a:prstGeom>
        </p:spPr>
        <p:txBody>
          <a:bodyPr vert="horz" lIns="121807" tIns="60904" rIns="121807" bIns="6090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3450" b="1">
                <a:solidFill>
                  <a:srgbClr val="21804B"/>
                </a:solidFill>
                <a:latin typeface="Calibri"/>
                <a:ea typeface="Calibri"/>
                <a:cs typeface="Calibri"/>
              </a:rPr>
              <a:t>Venta 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6960384C-48B6-3CA0-1881-00197C546459}"/>
              </a:ext>
            </a:extLst>
          </p:cNvPr>
          <p:cNvSpPr txBox="1">
            <a:spLocks/>
          </p:cNvSpPr>
          <p:nvPr/>
        </p:nvSpPr>
        <p:spPr>
          <a:xfrm>
            <a:off x="8441453" y="1713565"/>
            <a:ext cx="3034305" cy="492164"/>
          </a:xfrm>
          <a:prstGeom prst="rect">
            <a:avLst/>
          </a:prstGeom>
        </p:spPr>
        <p:txBody>
          <a:bodyPr vert="horz" lIns="121807" tIns="60904" rIns="121807" bIns="6090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3450" b="1" err="1">
                <a:solidFill>
                  <a:srgbClr val="21804B"/>
                </a:solidFill>
                <a:latin typeface="Calibri"/>
                <a:ea typeface="Calibri"/>
                <a:cs typeface="Calibri"/>
              </a:rPr>
              <a:t>Post-servicio</a:t>
            </a:r>
          </a:p>
        </p:txBody>
      </p:sp>
      <p:sp>
        <p:nvSpPr>
          <p:cNvPr id="24" name="CuadroTexto 3">
            <a:extLst>
              <a:ext uri="{FF2B5EF4-FFF2-40B4-BE49-F238E27FC236}">
                <a16:creationId xmlns:a16="http://schemas.microsoft.com/office/drawing/2014/main" id="{3EACB435-0043-4F9C-21D5-2A04276A26AF}"/>
              </a:ext>
            </a:extLst>
          </p:cNvPr>
          <p:cNvSpPr txBox="1"/>
          <p:nvPr/>
        </p:nvSpPr>
        <p:spPr>
          <a:xfrm>
            <a:off x="648890" y="2579909"/>
            <a:ext cx="2401795" cy="2921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Digital Marketing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Officer</a:t>
            </a:r>
            <a:endParaRPr lang="es-ES" err="1"/>
          </a:p>
          <a:p>
            <a:pPr algn="ctr"/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Redes sociales + SEO/SEM → leads.</a:t>
            </a:r>
            <a:endParaRPr lang="en-US"/>
          </a:p>
          <a:p>
            <a:pPr marL="285750" indent="-285750" algn="ctr">
              <a:buFont typeface="Arial"/>
              <a:buChar char="•"/>
            </a:pPr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Voz a voz → referidos de clientes actuales.</a:t>
            </a:r>
            <a:endParaRPr lang="es-CO"/>
          </a:p>
          <a:p>
            <a:pPr algn="ctr">
              <a:spcBef>
                <a:spcPts val="999"/>
              </a:spcBef>
            </a:pPr>
            <a:endParaRPr lang="es-CO" sz="1950">
              <a:solidFill>
                <a:srgbClr val="333333"/>
              </a:solidFill>
            </a:endParaRPr>
          </a:p>
        </p:txBody>
      </p:sp>
      <p:sp>
        <p:nvSpPr>
          <p:cNvPr id="26" name="CuadroTexto 3">
            <a:extLst>
              <a:ext uri="{FF2B5EF4-FFF2-40B4-BE49-F238E27FC236}">
                <a16:creationId xmlns:a16="http://schemas.microsoft.com/office/drawing/2014/main" id="{6C250175-CA4A-CE55-1CB6-9B36E21E887F}"/>
              </a:ext>
            </a:extLst>
          </p:cNvPr>
          <p:cNvSpPr txBox="1"/>
          <p:nvPr/>
        </p:nvSpPr>
        <p:spPr>
          <a:xfrm>
            <a:off x="8435668" y="2602913"/>
            <a:ext cx="2401795" cy="26212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Help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Care (soporte diario).</a:t>
            </a:r>
            <a:endParaRPr lang="es-CO"/>
          </a:p>
          <a:p>
            <a:pPr algn="ctr"/>
            <a:endParaRPr lang="es-CO" sz="1950">
              <a:solidFill>
                <a:srgbClr val="333333"/>
              </a:solidFill>
              <a:ea typeface="+mn-lt"/>
              <a:cs typeface="+mn-lt"/>
            </a:endParaRPr>
          </a:p>
          <a:p>
            <a:pPr algn="ctr"/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Customer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Experience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Lab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(encuestas de satisfacción).</a:t>
            </a:r>
            <a:endParaRPr lang="es-CO"/>
          </a:p>
          <a:p>
            <a:pPr algn="ctr">
              <a:spcBef>
                <a:spcPts val="999"/>
              </a:spcBef>
            </a:pPr>
            <a:endParaRPr lang="es-CO" sz="1950" b="1">
              <a:solidFill>
                <a:srgbClr val="333333"/>
              </a:solidFill>
            </a:endParaRP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D5F7F640-02C1-982B-B462-C14E80927E74}"/>
              </a:ext>
            </a:extLst>
          </p:cNvPr>
          <p:cNvSpPr txBox="1"/>
          <p:nvPr/>
        </p:nvSpPr>
        <p:spPr>
          <a:xfrm>
            <a:off x="4433011" y="2597162"/>
            <a:ext cx="2401795" cy="14209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Digital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Bussiness</a:t>
            </a:r>
          </a:p>
          <a:p>
            <a:pPr algn="ctr">
              <a:spcBef>
                <a:spcPts val="999"/>
              </a:spcBef>
            </a:pP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Hunters (captación) y </a:t>
            </a:r>
            <a:r>
              <a:rPr lang="es-CO" sz="1950" err="1">
                <a:solidFill>
                  <a:srgbClr val="333333"/>
                </a:solidFill>
                <a:ea typeface="+mn-lt"/>
                <a:cs typeface="+mn-lt"/>
              </a:rPr>
              <a:t>Farmers</a:t>
            </a:r>
            <a:r>
              <a:rPr lang="es-CO" sz="1950">
                <a:solidFill>
                  <a:srgbClr val="333333"/>
                </a:solidFill>
                <a:ea typeface="+mn-lt"/>
                <a:cs typeface="+mn-lt"/>
              </a:rPr>
              <a:t> (fidelización).</a:t>
            </a:r>
            <a:endParaRPr lang="en-US"/>
          </a:p>
        </p:txBody>
      </p:sp>
      <p:pic>
        <p:nvPicPr>
          <p:cNvPr id="29" name="Picture 28" descr="A dotted line on a black background&#10;&#10;AI-generated content may be incorrect.">
            <a:extLst>
              <a:ext uri="{FF2B5EF4-FFF2-40B4-BE49-F238E27FC236}">
                <a16:creationId xmlns:a16="http://schemas.microsoft.com/office/drawing/2014/main" id="{D2E22332-FE3E-0B50-41C2-2FB9EA502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919" y="3004867"/>
            <a:ext cx="4593786" cy="3666227"/>
          </a:xfrm>
          <a:prstGeom prst="rect">
            <a:avLst/>
          </a:prstGeom>
        </p:spPr>
      </p:pic>
      <p:pic>
        <p:nvPicPr>
          <p:cNvPr id="33" name="Picture 32" descr="A dotted line on a black background&#10;&#10;AI-generated content may be incorrect.">
            <a:extLst>
              <a:ext uri="{FF2B5EF4-FFF2-40B4-BE49-F238E27FC236}">
                <a16:creationId xmlns:a16="http://schemas.microsoft.com/office/drawing/2014/main" id="{DF93C5F9-E1EC-A4C4-406C-CAAABBDA1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09477" y="-1092681"/>
            <a:ext cx="4593786" cy="36662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EF45D10-68EA-B44B-47BE-60689E6277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FC4C07-1B00-A111-AB4D-0D78F20A7E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5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01670D-0ACB-4ECC-F48E-7393405F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">
            <a:extLst>
              <a:ext uri="{FF2B5EF4-FFF2-40B4-BE49-F238E27FC236}">
                <a16:creationId xmlns:a16="http://schemas.microsoft.com/office/drawing/2014/main" id="{17B636D9-F271-34E7-5581-7EE4D94FB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38" y="3172"/>
            <a:ext cx="12186363" cy="6854829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F3A4CB0-92BD-7D22-A7E6-853440AAE7FB}"/>
              </a:ext>
            </a:extLst>
          </p:cNvPr>
          <p:cNvSpPr txBox="1">
            <a:spLocks/>
          </p:cNvSpPr>
          <p:nvPr/>
        </p:nvSpPr>
        <p:spPr>
          <a:xfrm>
            <a:off x="1097429" y="477081"/>
            <a:ext cx="6870926" cy="505269"/>
          </a:xfrm>
          <a:prstGeom prst="rect">
            <a:avLst/>
          </a:prstGeom>
        </p:spPr>
        <p:txBody>
          <a:bodyPr vert="horz" lIns="91355" tIns="45678" rIns="91355" bIns="4567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8072">
              <a:lnSpc>
                <a:spcPts val="3597"/>
              </a:lnSpc>
              <a:spcBef>
                <a:spcPts val="1332"/>
              </a:spcBef>
              <a:buNone/>
              <a:defRPr/>
            </a:pPr>
            <a:r>
              <a:rPr lang="es-CO" sz="4400" b="1">
                <a:gradFill>
                  <a:gsLst>
                    <a:gs pos="0">
                      <a:srgbClr val="54A271"/>
                    </a:gs>
                    <a:gs pos="50000">
                      <a:srgbClr val="253880"/>
                    </a:gs>
                    <a:gs pos="100000">
                      <a:srgbClr val="B53256"/>
                    </a:gs>
                  </a:gsLst>
                  <a:lin ang="0" scaled="0"/>
                </a:gradFill>
                <a:latin typeface="Calibri"/>
                <a:ea typeface="Calibri"/>
                <a:cs typeface="Calibri"/>
              </a:rPr>
              <a:t>Conclusiones </a:t>
            </a:r>
          </a:p>
        </p:txBody>
      </p:sp>
      <p:pic>
        <p:nvPicPr>
          <p:cNvPr id="7" name="Imagen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666EE5-C8AC-E9E4-607C-6AB2A95D4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298" y="6327137"/>
            <a:ext cx="1459149" cy="291830"/>
          </a:xfrm>
          <a:prstGeom prst="rect">
            <a:avLst/>
          </a:prstGeom>
        </p:spPr>
      </p:pic>
      <p:pic>
        <p:nvPicPr>
          <p:cNvPr id="3" name="Imagen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08858B8-C035-F8CA-C2A6-0C346BA70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" y="6369725"/>
            <a:ext cx="1172394" cy="301980"/>
          </a:xfrm>
          <a:prstGeom prst="rect">
            <a:avLst/>
          </a:prstGeom>
        </p:spPr>
      </p:pic>
      <p:sp>
        <p:nvSpPr>
          <p:cNvPr id="24" name="CuadroTexto 3">
            <a:extLst>
              <a:ext uri="{FF2B5EF4-FFF2-40B4-BE49-F238E27FC236}">
                <a16:creationId xmlns:a16="http://schemas.microsoft.com/office/drawing/2014/main" id="{EC368DDD-4FA2-E624-F61F-ACA4D2A50052}"/>
              </a:ext>
            </a:extLst>
          </p:cNvPr>
          <p:cNvSpPr txBox="1"/>
          <p:nvPr/>
        </p:nvSpPr>
        <p:spPr>
          <a:xfrm>
            <a:off x="4444513" y="3126248"/>
            <a:ext cx="3293191" cy="24365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Periferia IT no es solo un proveedor, sino un </a:t>
            </a:r>
            <a:r>
              <a:rPr lang="es-CO" sz="2400" b="1">
                <a:solidFill>
                  <a:srgbClr val="333333"/>
                </a:solidFill>
                <a:ea typeface="+mn-lt"/>
                <a:cs typeface="+mn-lt"/>
              </a:rPr>
              <a:t>socio estratégico </a:t>
            </a: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de sus clientes en transformación digital</a:t>
            </a:r>
            <a:endParaRPr lang="en-US" sz="2400"/>
          </a:p>
          <a:p>
            <a:pPr algn="ctr">
              <a:spcBef>
                <a:spcPts val="999"/>
              </a:spcBef>
            </a:pPr>
            <a:endParaRPr lang="es-CO" sz="2400">
              <a:solidFill>
                <a:srgbClr val="333333"/>
              </a:solidFill>
            </a:endParaRPr>
          </a:p>
        </p:txBody>
      </p:sp>
      <p:sp>
        <p:nvSpPr>
          <p:cNvPr id="26" name="CuadroTexto 3">
            <a:extLst>
              <a:ext uri="{FF2B5EF4-FFF2-40B4-BE49-F238E27FC236}">
                <a16:creationId xmlns:a16="http://schemas.microsoft.com/office/drawing/2014/main" id="{540DF05B-48C6-2597-0D76-58528F891501}"/>
              </a:ext>
            </a:extLst>
          </p:cNvPr>
          <p:cNvSpPr txBox="1"/>
          <p:nvPr/>
        </p:nvSpPr>
        <p:spPr>
          <a:xfrm>
            <a:off x="8291894" y="1409594"/>
            <a:ext cx="3638247" cy="39138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endParaRPr lang="es-CO" sz="2400">
              <a:solidFill>
                <a:srgbClr val="333333"/>
              </a:solidFill>
              <a:ea typeface="+mn-lt"/>
              <a:cs typeface="+mn-lt"/>
            </a:endParaRPr>
          </a:p>
          <a:p>
            <a:pPr algn="just">
              <a:spcBef>
                <a:spcPts val="999"/>
              </a:spcBef>
            </a:pP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Periferia IT se preocupa por el cuidado de sus clientes. Las métricas demuestran altos niveles de satisfacción (92%), pero hay </a:t>
            </a:r>
            <a:r>
              <a:rPr lang="es-CO" sz="2400" b="1">
                <a:solidFill>
                  <a:srgbClr val="333333"/>
                </a:solidFill>
                <a:ea typeface="+mn-lt"/>
                <a:cs typeface="+mn-lt"/>
              </a:rPr>
              <a:t>oportunidades de mejora en comunicación y seguimiento</a:t>
            </a: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6AF289BB-DB5A-A79D-E5A9-8FA4F2E0A8F6}"/>
              </a:ext>
            </a:extLst>
          </p:cNvPr>
          <p:cNvSpPr txBox="1"/>
          <p:nvPr/>
        </p:nvSpPr>
        <p:spPr>
          <a:xfrm>
            <a:off x="493615" y="1835162"/>
            <a:ext cx="3221304" cy="50372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spcBef>
                <a:spcPts val="999"/>
              </a:spcBef>
            </a:pP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Es una compañía con un modelo de servicio enfocado en el cliente.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algn="just">
              <a:spcBef>
                <a:spcPts val="999"/>
              </a:spcBef>
            </a:pP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Sus canales equilibran lo digital y lo humano (redes sociales + referidos / hunters + </a:t>
            </a:r>
            <a:r>
              <a:rPr lang="es-CO" sz="2400" err="1">
                <a:solidFill>
                  <a:srgbClr val="333333"/>
                </a:solidFill>
                <a:ea typeface="+mn-lt"/>
                <a:cs typeface="+mn-lt"/>
              </a:rPr>
              <a:t>farmers</a:t>
            </a: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 / soporte + CX </a:t>
            </a:r>
            <a:r>
              <a:rPr lang="es-CO" sz="2400" err="1">
                <a:solidFill>
                  <a:srgbClr val="333333"/>
                </a:solidFill>
                <a:ea typeface="+mn-lt"/>
                <a:cs typeface="+mn-lt"/>
              </a:rPr>
              <a:t>Lab</a:t>
            </a: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).</a:t>
            </a:r>
          </a:p>
          <a:p>
            <a:pPr algn="just">
              <a:spcBef>
                <a:spcPts val="999"/>
              </a:spcBef>
            </a:pPr>
            <a:endParaRPr lang="es-CO" sz="2400">
              <a:solidFill>
                <a:srgbClr val="333333"/>
              </a:solidFill>
            </a:endParaRPr>
          </a:p>
          <a:p>
            <a:pPr algn="just">
              <a:spcBef>
                <a:spcPts val="999"/>
              </a:spcBef>
            </a:pPr>
            <a:endParaRPr lang="es-CO" sz="2400">
              <a:solidFill>
                <a:srgbClr val="333333"/>
              </a:solidFill>
            </a:endParaRPr>
          </a:p>
          <a:p>
            <a:pPr algn="just">
              <a:spcBef>
                <a:spcPts val="999"/>
              </a:spcBef>
            </a:pPr>
            <a:endParaRPr lang="es-CO" sz="2400">
              <a:solidFill>
                <a:srgbClr val="333333"/>
              </a:solidFill>
            </a:endParaRP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3D287F83-5126-A455-64E3-6B426400A963}"/>
              </a:ext>
            </a:extLst>
          </p:cNvPr>
          <p:cNvSpPr txBox="1"/>
          <p:nvPr/>
        </p:nvSpPr>
        <p:spPr>
          <a:xfrm>
            <a:off x="1097429" y="5338743"/>
            <a:ext cx="1079817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999"/>
              </a:spcBef>
            </a:pPr>
            <a:r>
              <a:rPr lang="es-CO" sz="2400">
                <a:solidFill>
                  <a:srgbClr val="333333"/>
                </a:solidFill>
                <a:ea typeface="+mn-lt"/>
                <a:cs typeface="+mn-lt"/>
              </a:rPr>
              <a:t>El reto clave: seguir midiendo y profundizando en la experiencia del cliente para sostener competitividad en el mercado.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E9CB9-4406-E233-421A-F57C4B9BB57F}"/>
              </a:ext>
            </a:extLst>
          </p:cNvPr>
          <p:cNvSpPr txBox="1"/>
          <p:nvPr/>
        </p:nvSpPr>
        <p:spPr>
          <a:xfrm>
            <a:off x="4451230" y="1834551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400">
                <a:solidFill>
                  <a:srgbClr val="333333"/>
                </a:solidFill>
              </a:rPr>
              <a:t>Sus colaboradores es su activo más valioso.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9FB05D-F7C5-4152-5946-05108D7B1B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810" b="37632"/>
          <a:stretch>
            <a:fillRect/>
          </a:stretch>
        </p:blipFill>
        <p:spPr>
          <a:xfrm>
            <a:off x="9753599" y="6078511"/>
            <a:ext cx="2257425" cy="6220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20A5EA-4FCF-B6FD-758E-723F51CEA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" y="5822747"/>
            <a:ext cx="19621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07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2025-08-27T08:47:16Z</dcterms:created>
  <dcterms:modified xsi:type="dcterms:W3CDTF">2025-08-29T11:38:17Z</dcterms:modified>
</cp:coreProperties>
</file>